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BE2F96C-885A-440B-95ED-0E968FDA96B4}">
  <a:tblStyle styleId="{8BE2F96C-885A-440B-95ED-0E968FDA96B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1EAEE3CE-7F1A-4149-BC94-C26FFA42A122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" name="Google Shape;70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" name="Google Shape;79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4d2c53e8e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e4d2c53e8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e4d2c53e8e_1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4d2c53e8e_0_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e4d2c53e8e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e4d2c53e8e_0_2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4d2c53e8e_0_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e4d2c53e8e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e4d2c53e8e_0_3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p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e492454e13_0_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e492454e13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e492454e13_0_3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p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p1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p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4" name="Google Shape;224;p1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" name="Google Shape;235;p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p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8" name="Google Shape;258;p2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9" name="Google Shape;269;p2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9" name="Google Shape;279;p2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7" name="Google Shape;287;p2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5" name="Google Shape;295;p2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showMasterSp="0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/>
          <p:nvPr/>
        </p:nvSpPr>
        <p:spPr>
          <a:xfrm>
            <a:off x="508000" y="0"/>
            <a:ext cx="812800" cy="6858000"/>
          </a:xfrm>
          <a:prstGeom prst="rect">
            <a:avLst/>
          </a:prstGeom>
          <a:solidFill>
            <a:srgbClr val="EAEAF3">
              <a:alpha val="5294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2"/>
          <p:cNvSpPr/>
          <p:nvPr/>
        </p:nvSpPr>
        <p:spPr>
          <a:xfrm>
            <a:off x="1320800" y="0"/>
            <a:ext cx="242888" cy="6858000"/>
          </a:xfrm>
          <a:prstGeom prst="rect">
            <a:avLst/>
          </a:prstGeom>
          <a:solidFill>
            <a:srgbClr val="EAEAF3">
              <a:alpha val="6901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"/>
          <p:cNvSpPr/>
          <p:nvPr/>
        </p:nvSpPr>
        <p:spPr>
          <a:xfrm>
            <a:off x="1522413" y="0"/>
            <a:ext cx="306387" cy="6858000"/>
          </a:xfrm>
          <a:prstGeom prst="rect">
            <a:avLst/>
          </a:prstGeom>
          <a:solidFill>
            <a:srgbClr val="EAEAF3">
              <a:alpha val="7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" name="Google Shape;24;p2"/>
          <p:cNvCxnSpPr/>
          <p:nvPr/>
        </p:nvCxnSpPr>
        <p:spPr>
          <a:xfrm>
            <a:off x="141288" y="0"/>
            <a:ext cx="0" cy="6858000"/>
          </a:xfrm>
          <a:prstGeom prst="straightConnector1">
            <a:avLst/>
          </a:prstGeom>
          <a:noFill/>
          <a:ln cap="flat" cmpd="sng" w="57150">
            <a:solidFill>
              <a:srgbClr val="EAEAF3">
                <a:alpha val="71764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" name="Google Shape;25;p2"/>
          <p:cNvCxnSpPr/>
          <p:nvPr/>
        </p:nvCxnSpPr>
        <p:spPr>
          <a:xfrm>
            <a:off x="1219200" y="0"/>
            <a:ext cx="0" cy="6858000"/>
          </a:xfrm>
          <a:prstGeom prst="straightConnector1">
            <a:avLst/>
          </a:prstGeom>
          <a:noFill/>
          <a:ln cap="flat" cmpd="sng" w="57150">
            <a:solidFill>
              <a:srgbClr val="EAEAF3">
                <a:alpha val="8196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" name="Google Shape;26;p2"/>
          <p:cNvCxnSpPr/>
          <p:nvPr/>
        </p:nvCxnSpPr>
        <p:spPr>
          <a:xfrm>
            <a:off x="1138238" y="0"/>
            <a:ext cx="0" cy="6858000"/>
          </a:xfrm>
          <a:prstGeom prst="straightConnector1">
            <a:avLst/>
          </a:prstGeom>
          <a:noFill/>
          <a:ln cap="flat" cmpd="sng" w="57150">
            <a:solidFill>
              <a:srgbClr val="EAEAF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" name="Google Shape;27;p2"/>
          <p:cNvCxnSpPr/>
          <p:nvPr/>
        </p:nvCxnSpPr>
        <p:spPr>
          <a:xfrm>
            <a:off x="2303463" y="0"/>
            <a:ext cx="0" cy="6858000"/>
          </a:xfrm>
          <a:prstGeom prst="straightConnector1">
            <a:avLst/>
          </a:prstGeom>
          <a:noFill/>
          <a:ln cap="flat" cmpd="sng" w="28575">
            <a:solidFill>
              <a:srgbClr val="EAEAF3">
                <a:alpha val="80784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" name="Google Shape;28;p2"/>
          <p:cNvCxnSpPr/>
          <p:nvPr/>
        </p:nvCxnSpPr>
        <p:spPr>
          <a:xfrm>
            <a:off x="14224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5C7A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" name="Google Shape;29;p2"/>
          <p:cNvCxnSpPr/>
          <p:nvPr/>
        </p:nvCxnSpPr>
        <p:spPr>
          <a:xfrm>
            <a:off x="12152313" y="0"/>
            <a:ext cx="0" cy="6858000"/>
          </a:xfrm>
          <a:prstGeom prst="straightConnector1">
            <a:avLst/>
          </a:prstGeom>
          <a:noFill/>
          <a:ln cap="flat" cmpd="thickThin" w="57150">
            <a:solidFill>
              <a:srgbClr val="EAEA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" name="Google Shape;30;p2"/>
          <p:cNvSpPr/>
          <p:nvPr/>
        </p:nvSpPr>
        <p:spPr>
          <a:xfrm>
            <a:off x="1625600" y="0"/>
            <a:ext cx="101600" cy="6858000"/>
          </a:xfrm>
          <a:prstGeom prst="rect">
            <a:avLst/>
          </a:prstGeom>
          <a:solidFill>
            <a:srgbClr val="5C7AE1">
              <a:alpha val="5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1746250" y="4867275"/>
            <a:ext cx="550863" cy="550863"/>
          </a:xfrm>
          <a:prstGeom prst="ellipse">
            <a:avLst/>
          </a:prstGeom>
          <a:solidFill>
            <a:srgbClr val="5C7A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1454150" y="5500688"/>
            <a:ext cx="144463" cy="144462"/>
          </a:xfrm>
          <a:prstGeom prst="ellipse">
            <a:avLst/>
          </a:prstGeom>
          <a:solidFill>
            <a:srgbClr val="5C7A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2185988" y="5759450"/>
            <a:ext cx="252412" cy="252413"/>
          </a:xfrm>
          <a:prstGeom prst="ellipse">
            <a:avLst/>
          </a:prstGeom>
          <a:solidFill>
            <a:srgbClr val="5C7A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111250" y="4551363"/>
            <a:ext cx="307975" cy="315912"/>
          </a:xfrm>
          <a:prstGeom prst="ellipse">
            <a:avLst/>
          </a:prstGeom>
          <a:solidFill>
            <a:srgbClr val="5C7A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" name="Google Shape;35;p2"/>
          <p:cNvCxnSpPr/>
          <p:nvPr/>
        </p:nvCxnSpPr>
        <p:spPr>
          <a:xfrm>
            <a:off x="1165225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5C7A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" name="Google Shape;36;p2"/>
          <p:cNvCxnSpPr/>
          <p:nvPr/>
        </p:nvCxnSpPr>
        <p:spPr>
          <a:xfrm>
            <a:off x="407988" y="0"/>
            <a:ext cx="0" cy="6858000"/>
          </a:xfrm>
          <a:prstGeom prst="straightConnector1">
            <a:avLst/>
          </a:prstGeom>
          <a:noFill/>
          <a:ln cap="flat" cmpd="sng" w="28575">
            <a:solidFill>
              <a:srgbClr val="EAEAF3">
                <a:alpha val="80784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" name="Google Shape;37;p2"/>
          <p:cNvSpPr txBox="1"/>
          <p:nvPr>
            <p:ph type="ctrTitle"/>
          </p:nvPr>
        </p:nvSpPr>
        <p:spPr>
          <a:xfrm>
            <a:off x="3048000" y="3124200"/>
            <a:ext cx="8229600" cy="1894362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"/>
          <p:cNvSpPr txBox="1"/>
          <p:nvPr>
            <p:ph idx="1" type="subTitle"/>
          </p:nvPr>
        </p:nvSpPr>
        <p:spPr>
          <a:xfrm>
            <a:off x="3048000" y="5003322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b="1" sz="1800">
                <a:solidFill>
                  <a:srgbClr val="5C7AE1"/>
                </a:solidFill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24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9" name="Google Shape;39;p2"/>
          <p:cNvSpPr txBox="1"/>
          <p:nvPr>
            <p:ph idx="12" type="sldNum"/>
          </p:nvPr>
        </p:nvSpPr>
        <p:spPr>
          <a:xfrm>
            <a:off x="1757363" y="4868863"/>
            <a:ext cx="522287" cy="522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"/>
          <p:cNvSpPr txBox="1"/>
          <p:nvPr>
            <p:ph type="title"/>
          </p:nvPr>
        </p:nvSpPr>
        <p:spPr>
          <a:xfrm>
            <a:off x="609600" y="274638"/>
            <a:ext cx="9956800" cy="1143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"/>
          <p:cNvSpPr txBox="1"/>
          <p:nvPr>
            <p:ph idx="1" type="body"/>
          </p:nvPr>
        </p:nvSpPr>
        <p:spPr>
          <a:xfrm>
            <a:off x="609600" y="1600200"/>
            <a:ext cx="9956800" cy="4873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?"/>
              <a:defRPr/>
            </a:lvl1pPr>
            <a:lvl2pPr indent="-32004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2pPr>
            <a:lvl3pPr indent="-29718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3pPr>
            <a:lvl4pPr indent="-29718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4pPr>
            <a:lvl5pPr indent="-306324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24"/>
              <a:buChar char="⚫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29718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3"/>
          <p:cNvSpPr txBox="1"/>
          <p:nvPr>
            <p:ph idx="12" type="sldNum"/>
          </p:nvPr>
        </p:nvSpPr>
        <p:spPr>
          <a:xfrm>
            <a:off x="10974388" y="6092825"/>
            <a:ext cx="522287" cy="522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 txBox="1"/>
          <p:nvPr>
            <p:ph type="title"/>
          </p:nvPr>
        </p:nvSpPr>
        <p:spPr>
          <a:xfrm>
            <a:off x="609600" y="274638"/>
            <a:ext cx="9956800" cy="1143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"/>
          <p:cNvSpPr txBox="1"/>
          <p:nvPr>
            <p:ph idx="12" type="sldNum"/>
          </p:nvPr>
        </p:nvSpPr>
        <p:spPr>
          <a:xfrm>
            <a:off x="10974388" y="6092825"/>
            <a:ext cx="522287" cy="522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 txBox="1"/>
          <p:nvPr>
            <p:ph idx="12" type="sldNum"/>
          </p:nvPr>
        </p:nvSpPr>
        <p:spPr>
          <a:xfrm>
            <a:off x="10974388" y="6092825"/>
            <a:ext cx="522287" cy="522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1"/>
          <p:cNvCxnSpPr/>
          <p:nvPr/>
        </p:nvCxnSpPr>
        <p:spPr>
          <a:xfrm>
            <a:off x="11684000" y="0"/>
            <a:ext cx="0" cy="6858000"/>
          </a:xfrm>
          <a:prstGeom prst="straightConnector1">
            <a:avLst/>
          </a:prstGeom>
          <a:noFill/>
          <a:ln cap="flat" cmpd="sng" w="38100">
            <a:solidFill>
              <a:srgbClr val="5C7AE1">
                <a:alpha val="91764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1"/>
          <p:cNvSpPr txBox="1"/>
          <p:nvPr>
            <p:ph type="title"/>
          </p:nvPr>
        </p:nvSpPr>
        <p:spPr>
          <a:xfrm>
            <a:off x="609600" y="274638"/>
            <a:ext cx="9956800" cy="1143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small" strike="noStrike">
                <a:solidFill>
                  <a:srgbClr val="5C7AE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rgbClr val="5C7AE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rgbClr val="5C7AE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rgbClr val="5C7AE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rgbClr val="5C7AE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609600" y="1600200"/>
            <a:ext cx="99568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🞆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⚫"/>
              <a:defRPr b="0" i="0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2004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471A6"/>
              </a:buClr>
              <a:buSzPts val="1440"/>
              <a:buFont typeface="Noto Sans Symbols"/>
              <a:buChar char="🞆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B2C1DB"/>
              </a:buClr>
              <a:buSzPts val="1200"/>
              <a:buFont typeface="Noto Sans Symbols"/>
              <a:buChar char="🞆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97688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DCB3B2"/>
              </a:buClr>
              <a:buSzPts val="1088"/>
              <a:buFont typeface="Noto Sans Symbols"/>
              <a:buChar char="⚫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81940" lvl="6" marL="32004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B1C0DA"/>
              </a:buClr>
              <a:buSzPts val="840"/>
              <a:buFont typeface="Noto Sans Symbols"/>
              <a:buChar char="⚪"/>
              <a:defRPr b="0" i="0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Times New Roman"/>
              <a:buChar char="•"/>
              <a:defRPr b="0" i="0" sz="1400" u="none" cap="small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4571A5"/>
              </a:buClr>
              <a:buSzPts val="1400"/>
              <a:buFont typeface="Times New Roman"/>
              <a:buChar char="•"/>
              <a:defRPr b="0" i="0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cxnSp>
        <p:nvCxnSpPr>
          <p:cNvPr id="13" name="Google Shape;13;p1"/>
          <p:cNvCxnSpPr/>
          <p:nvPr/>
        </p:nvCxnSpPr>
        <p:spPr>
          <a:xfrm>
            <a:off x="101600" y="0"/>
            <a:ext cx="0" cy="6858000"/>
          </a:xfrm>
          <a:prstGeom prst="straightConnector1">
            <a:avLst/>
          </a:prstGeom>
          <a:noFill/>
          <a:ln cap="flat" cmpd="thickThin" w="57150">
            <a:solidFill>
              <a:srgbClr val="5C7A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" name="Google Shape;14;p1"/>
          <p:cNvCxnSpPr/>
          <p:nvPr/>
        </p:nvCxnSpPr>
        <p:spPr>
          <a:xfrm>
            <a:off x="11988800" y="0"/>
            <a:ext cx="0" cy="6858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" name="Google Shape;15;p1"/>
          <p:cNvSpPr/>
          <p:nvPr/>
        </p:nvSpPr>
        <p:spPr>
          <a:xfrm>
            <a:off x="11785600" y="0"/>
            <a:ext cx="406400" cy="6858000"/>
          </a:xfrm>
          <a:prstGeom prst="rect">
            <a:avLst/>
          </a:prstGeom>
          <a:solidFill>
            <a:srgbClr val="EAEAF3">
              <a:alpha val="8588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" name="Google Shape;16;p1"/>
          <p:cNvCxnSpPr/>
          <p:nvPr/>
        </p:nvCxnSpPr>
        <p:spPr>
          <a:xfrm>
            <a:off x="118872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5C7A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1"/>
          <p:cNvSpPr/>
          <p:nvPr/>
        </p:nvSpPr>
        <p:spPr>
          <a:xfrm>
            <a:off x="10960100" y="6073775"/>
            <a:ext cx="550863" cy="550863"/>
          </a:xfrm>
          <a:prstGeom prst="ellipse">
            <a:avLst/>
          </a:prstGeom>
          <a:solidFill>
            <a:srgbClr val="5C7A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 txBox="1"/>
          <p:nvPr>
            <p:ph idx="12" type="sldNum"/>
          </p:nvPr>
        </p:nvSpPr>
        <p:spPr>
          <a:xfrm>
            <a:off x="10974388" y="6092825"/>
            <a:ext cx="522287" cy="522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19" name="Google Shape;19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 rot="-5400000">
            <a:off x="11583194" y="6133307"/>
            <a:ext cx="920750" cy="29686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"/>
          <p:cNvSpPr txBox="1"/>
          <p:nvPr>
            <p:ph type="ctrTitle"/>
          </p:nvPr>
        </p:nvSpPr>
        <p:spPr>
          <a:xfrm>
            <a:off x="3364700" y="1692263"/>
            <a:ext cx="7429500" cy="6603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5554"/>
              <a:buNone/>
            </a:pPr>
            <a:r>
              <a:rPr lang="ru-RU" sz="2800">
                <a:solidFill>
                  <a:srgbClr val="1D2F6A"/>
                </a:solidFill>
              </a:rPr>
              <a:t>Методика обнаружения несанкционированных действий и аномальной активности в корпоративной сети с использованием нейронных сетей</a:t>
            </a:r>
            <a:endParaRPr/>
          </a:p>
        </p:txBody>
      </p:sp>
      <p:sp>
        <p:nvSpPr>
          <p:cNvPr id="55" name="Google Shape;55;p6"/>
          <p:cNvSpPr txBox="1"/>
          <p:nvPr>
            <p:ph idx="1" type="subTitle"/>
          </p:nvPr>
        </p:nvSpPr>
        <p:spPr>
          <a:xfrm>
            <a:off x="3705713" y="2640025"/>
            <a:ext cx="67491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60"/>
              <a:buNone/>
            </a:pPr>
            <a:r>
              <a:rPr lang="ru-RU" sz="2800"/>
              <a:t>Выпускная квалификационная работа</a:t>
            </a:r>
            <a:endParaRPr sz="28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60"/>
              <a:buNone/>
            </a:pPr>
            <a:r>
              <a:t/>
            </a:r>
            <a:endParaRPr sz="2800"/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60"/>
              <a:buNone/>
            </a:pPr>
            <a:r>
              <a:t/>
            </a:r>
            <a:endParaRPr sz="2800">
              <a:solidFill>
                <a:srgbClr val="1D2F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6"/>
          <p:cNvSpPr txBox="1"/>
          <p:nvPr/>
        </p:nvSpPr>
        <p:spPr>
          <a:xfrm>
            <a:off x="2662238" y="3531375"/>
            <a:ext cx="43212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Noto Sans Symbols"/>
              <a:buNone/>
            </a:pPr>
            <a:r>
              <a:rPr b="1" i="0" lang="ru-RU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Автор:</a:t>
            </a:r>
            <a:br>
              <a:rPr b="1" i="0" lang="ru-RU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ru-RU" sz="2200" u="none" cap="none" strike="noStrike">
                <a:solidFill>
                  <a:srgbClr val="5C7A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Титов Дмитрий Иванович</a:t>
            </a:r>
            <a:endParaRPr b="1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1955800" y="101600"/>
            <a:ext cx="1392238" cy="1392238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rgbClr val="4062D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1815977" y="1692275"/>
            <a:ext cx="1671900" cy="1589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rgbClr val="4062D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6"/>
          <p:cNvSpPr txBox="1"/>
          <p:nvPr/>
        </p:nvSpPr>
        <p:spPr>
          <a:xfrm>
            <a:off x="2662238" y="5201363"/>
            <a:ext cx="7429500" cy="8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Noto Sans Symbols"/>
              <a:buNone/>
            </a:pPr>
            <a:r>
              <a:rPr b="1" lang="ru-RU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Консультант:</a:t>
            </a:r>
            <a:r>
              <a:rPr b="1" i="0" lang="ru-RU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C7AE1"/>
              </a:buClr>
              <a:buSzPts val="1760"/>
              <a:buFont typeface="Noto Sans Symbols"/>
              <a:buNone/>
            </a:pPr>
            <a:r>
              <a:rPr b="1" i="0" lang="ru-RU" sz="2200" u="none" cap="none" strike="noStrike">
                <a:solidFill>
                  <a:srgbClr val="5C7A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Ланской  Даниил Петрович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6"/>
          <p:cNvSpPr txBox="1"/>
          <p:nvPr/>
        </p:nvSpPr>
        <p:spPr>
          <a:xfrm>
            <a:off x="4919663" y="6308725"/>
            <a:ext cx="4319587" cy="379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9B2"/>
              </a:buClr>
              <a:buSzPts val="1600"/>
              <a:buFont typeface="Noto Sans Symbols"/>
              <a:buNone/>
            </a:pPr>
            <a:r>
              <a:rPr b="0" i="0" lang="ru-RU" sz="2000" u="none" cap="none" strike="noStrike">
                <a:solidFill>
                  <a:srgbClr val="AAA9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Москва 2026г.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6"/>
          <p:cNvSpPr txBox="1"/>
          <p:nvPr/>
        </p:nvSpPr>
        <p:spPr>
          <a:xfrm>
            <a:off x="3496413" y="18950"/>
            <a:ext cx="71661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None/>
            </a:pPr>
            <a:r>
              <a:rPr b="0" i="0" lang="ru-RU" sz="1600" u="none" cap="none" strike="noStrike">
                <a:solidFill>
                  <a:srgbClr val="AAA9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Федеральное государственное автономное образовательное учреждение</a:t>
            </a:r>
            <a:endParaRPr b="0" i="0" sz="1600" u="none" cap="none" strike="noStrike">
              <a:solidFill>
                <a:srgbClr val="AAA9B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None/>
            </a:pPr>
            <a:r>
              <a:rPr b="0" i="0" lang="ru-RU" sz="1600" u="none" cap="none" strike="noStrike">
                <a:solidFill>
                  <a:srgbClr val="AAA9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высшего образования «Национальный исследовательский ядерный</a:t>
            </a:r>
            <a:endParaRPr b="0" i="0" sz="1600" u="none" cap="none" strike="noStrike">
              <a:solidFill>
                <a:srgbClr val="AAA9B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None/>
            </a:pPr>
            <a:r>
              <a:rPr b="0" i="0" lang="ru-RU" sz="1600" u="none" cap="none" strike="noStrike">
                <a:solidFill>
                  <a:srgbClr val="AAA9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университет «МИФИ»</a:t>
            </a:r>
            <a:endParaRPr b="0" i="0" sz="1600" u="none" cap="none" strike="noStrike">
              <a:solidFill>
                <a:srgbClr val="AAA9B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None/>
            </a:pPr>
            <a:r>
              <a:t/>
            </a:r>
            <a:endParaRPr b="1" i="0" sz="1600" u="none" cap="none" strike="noStrike">
              <a:solidFill>
                <a:srgbClr val="1D2F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6"/>
          <p:cNvSpPr txBox="1"/>
          <p:nvPr/>
        </p:nvSpPr>
        <p:spPr>
          <a:xfrm>
            <a:off x="3496413" y="970038"/>
            <a:ext cx="71661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None/>
            </a:pPr>
            <a:r>
              <a:rPr b="0" i="0" lang="ru-RU" sz="1600" u="none" cap="none" strike="noStrike">
                <a:solidFill>
                  <a:srgbClr val="AAA9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Кафедра №42 «Криптология и кибербезопасность»</a:t>
            </a:r>
            <a:endParaRPr b="1" i="0" sz="1600" u="none" cap="none" strike="noStrike">
              <a:solidFill>
                <a:srgbClr val="1D2F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6"/>
          <p:cNvSpPr txBox="1"/>
          <p:nvPr/>
        </p:nvSpPr>
        <p:spPr>
          <a:xfrm>
            <a:off x="4793456" y="3215481"/>
            <a:ext cx="4319587" cy="379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9B2"/>
              </a:buClr>
              <a:buSzPts val="1120"/>
              <a:buFont typeface="Noto Sans Symbols"/>
              <a:buNone/>
            </a:pPr>
            <a:r>
              <a:rPr b="0" i="0" lang="ru-RU" sz="1400" u="none" cap="none" strike="noStrike">
                <a:solidFill>
                  <a:srgbClr val="AAA9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10.03.01 Информационная безопасность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Изображение выглядит как черный, темнота&#10;&#10;Содержимое, созданное ИИ, может быть неверным." id="64" name="Google Shape;6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0499" y="464787"/>
            <a:ext cx="1282862" cy="6658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зображение выглядит как черный, темнота, черно-белый&#10;&#10;Содержимое, созданное ИИ, может быть неверным." id="65" name="Google Shape;6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02129" y="1975613"/>
            <a:ext cx="1099597" cy="102243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6"/>
          <p:cNvSpPr txBox="1"/>
          <p:nvPr/>
        </p:nvSpPr>
        <p:spPr>
          <a:xfrm>
            <a:off x="2662250" y="4294225"/>
            <a:ext cx="9309600" cy="8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Noto Sans Symbols"/>
              <a:buNone/>
            </a:pPr>
            <a:r>
              <a:rPr b="1" lang="ru-RU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Научный руководитель</a:t>
            </a:r>
            <a:r>
              <a:rPr b="1" lang="ru-RU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b="1" i="0" lang="ru-RU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C7AE1"/>
              </a:buClr>
              <a:buSzPts val="1760"/>
              <a:buFont typeface="Noto Sans Symbols"/>
              <a:buNone/>
            </a:pPr>
            <a:r>
              <a:rPr b="1" lang="ru-RU" sz="2200">
                <a:solidFill>
                  <a:srgbClr val="5C7A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Когос Константин Григорьевич, кандидат технических наук</a:t>
            </a:r>
            <a:endParaRPr b="1" sz="2200">
              <a:solidFill>
                <a:srgbClr val="5C7AE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"/>
          <p:cNvSpPr txBox="1"/>
          <p:nvPr>
            <p:ph type="title"/>
          </p:nvPr>
        </p:nvSpPr>
        <p:spPr>
          <a:xfrm>
            <a:off x="609600" y="274648"/>
            <a:ext cx="9956700" cy="9444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 sz="3200"/>
              <a:t>Актуальность исследования</a:t>
            </a:r>
            <a:endParaRPr/>
          </a:p>
        </p:txBody>
      </p:sp>
      <p:sp>
        <p:nvSpPr>
          <p:cNvPr id="73" name="Google Shape;73;p7"/>
          <p:cNvSpPr txBox="1"/>
          <p:nvPr>
            <p:ph idx="1" type="body"/>
          </p:nvPr>
        </p:nvSpPr>
        <p:spPr>
          <a:xfrm>
            <a:off x="532900" y="992100"/>
            <a:ext cx="10963800" cy="3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20"/>
              <a:buFont typeface="Noto Sans Symbols"/>
              <a:buNone/>
            </a:pPr>
            <a:r>
              <a:rPr lang="ru-RU" sz="1800">
                <a:solidFill>
                  <a:srgbClr val="1F294A"/>
                </a:solidFill>
              </a:rPr>
              <a:t>Внедрение средств обнаружения и предотвращения вторжений в составе значимых объектов критической информационной инфраструктуры прямо предписано Федеральным законом № 187-ФЗ от 26.07.2017 [1], приказом ФСТЭК России № 239 в редакции 28.08.2024 [2], Указом Президента РФ № 250 от 01.05.2022 [3] и Доктриной информационной безопасности РФ [4].</a:t>
            </a:r>
            <a:endParaRPr sz="1800">
              <a:solidFill>
                <a:srgbClr val="1F294A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Arial"/>
              <a:buNone/>
            </a:pPr>
            <a:r>
              <a:rPr lang="ru-RU" sz="1800">
                <a:solidFill>
                  <a:srgbClr val="1F294A"/>
                </a:solidFill>
              </a:rPr>
              <a:t>Прирост числа DDoS-атак на российскую инфраструктуру за 2025 год составил +42 % по данным Kaspersky DDoS Protection [5]; Solar JSOC фиксирует рост общего числа инцидентов на +27 % за I полугодие 2025 года к 2024-му [6]; по данным Positive Technologies наблюдается смещение векторов атак с сетевого уровня (L3/L4) на прикладной (L7) [7]; НКЦКИ отмечает увеличение доли таргетированных атак на критическую инфраструктуру [8].</a:t>
            </a:r>
            <a:endParaRPr sz="1800">
              <a:solidFill>
                <a:srgbClr val="1F294A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Arial"/>
              <a:buNone/>
            </a:pPr>
            <a:r>
              <a:rPr lang="ru-RU" sz="1800">
                <a:solidFill>
                  <a:srgbClr val="1F294A"/>
                </a:solidFill>
              </a:rPr>
              <a:t>Доля шифрованного трафика в корпоративных сетях превышает 90 %, что ограничивает применимость классического сигнатурного анализа и переносит центр тяжести разработки NIDS на flow-уровневый анализ метаданных потоков (NetFlow [9], IPFIX [10]).</a:t>
            </a:r>
            <a:endParaRPr sz="1800"/>
          </a:p>
        </p:txBody>
      </p:sp>
      <p:sp>
        <p:nvSpPr>
          <p:cNvPr id="74" name="Google Shape;74;p7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75" name="Google Shape;75;p7"/>
          <p:cNvSpPr txBox="1"/>
          <p:nvPr/>
        </p:nvSpPr>
        <p:spPr>
          <a:xfrm>
            <a:off x="223600" y="4373125"/>
            <a:ext cx="11273100" cy="23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О безопасности критической информационной инфраструктуры Российской Федерации : Федер. закон от 26.07.2017 № 187-ФЗ // КонсультантПлюс : справ.-правовая система. URL: http://www.consultant.ru/document/cons_doc_LAW_220885/ (дата обращения: 22.05.2026).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Об утверждении Требований по обеспечению безопасности значимых объектов критической информационной инфраструктуры Российской Федерации : приказ ФСТЭК России от 25.12.2017 № 239 (в ред. от 28.08.2024) // ФСТЭК России : офиц. сайт. URL: https://fstec.ru/ (дата обращения: 22.05.2026).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О дополнительных мерах по обеспечению информационной безопасности Российской Федерации : Указ Президента РФ от 01.05.2022 № 250 // Президент России : офиц. сайт. URL: http://www.kremlin.ru/ (дата обращения: 22.05.2026).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Доктрина информационной безопасности Российской Федерации : утв. Указом Президента РФ от 05.12.2016 № 646. М., 2016.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Kaspersky DDoS Attacks Report 2025 : аналит. отчет / Kaspersky Lab. URL: https://securelist.com/ddos-report-2025/ (дата обращения: 22.05.2026).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Solar JSOC Security Report 2025 : аналит. отчет / ГК &lt;&lt;РТК-Solar&gt;&gt;. М., 2025. URL: https://rt-solar.ru/analytics/ (дата обращения: 22.05.2026).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 Актуальные киберугрозы 2025 : аналит. отчет / Positive Technologies. М., 2025. URL: https://www.ptsecurity.com/ru-ru/research/analytics/ (дата обращения: 22.05.2026).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 Бюллетень НКЦКИ за 2025 год / Национальный координационный центр по компьютерным инцидентам. URL: https://safe-surf.ru/ (дата обращения: 22.05.2026).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9. Claise B. Cisco Systems NetFlow Services Export Version 9 : RFC 3954 / B. Claise ; IETF. 2004. 33 p.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10. Specification of the IP Flow Information Export (IPFIX) Protocol for the Exchange of Flow Information : RFC 7011 / B. Claise, B. Trammell, P. Aitken ; IETF. 2013. 76 p.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"/>
          <p:cNvSpPr txBox="1"/>
          <p:nvPr>
            <p:ph type="title"/>
          </p:nvPr>
        </p:nvSpPr>
        <p:spPr>
          <a:xfrm>
            <a:off x="609600" y="274638"/>
            <a:ext cx="9956700" cy="1143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 sz="3200"/>
              <a:t>Цель и задачи исследования</a:t>
            </a:r>
            <a:endParaRPr/>
          </a:p>
        </p:txBody>
      </p:sp>
      <p:sp>
        <p:nvSpPr>
          <p:cNvPr id="82" name="Google Shape;82;p8"/>
          <p:cNvSpPr txBox="1"/>
          <p:nvPr>
            <p:ph idx="1" type="body"/>
          </p:nvPr>
        </p:nvSpPr>
        <p:spPr>
          <a:xfrm>
            <a:off x="609600" y="1297675"/>
            <a:ext cx="9956700" cy="52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45720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20"/>
              <a:buFont typeface="Noto Sans Symbols"/>
              <a:buNone/>
            </a:pPr>
            <a:r>
              <a:rPr lang="ru-RU" sz="1800">
                <a:solidFill>
                  <a:schemeClr val="dk1"/>
                </a:solidFill>
              </a:rPr>
              <a:t>Цель работы</a:t>
            </a:r>
            <a:r>
              <a:rPr b="0" lang="ru-RU" sz="1800">
                <a:solidFill>
                  <a:schemeClr val="dk1"/>
                </a:solidFill>
              </a:rPr>
              <a:t> – </a:t>
            </a:r>
            <a:r>
              <a:rPr lang="ru-RU" sz="1800"/>
              <a:t>разработка методики нейросетевого обнаружения несанкционированных действий и аномальной активности в корпоративной сети, валидируемой конечно-автоматным агентом активного тестирования с библиотекой параметризованных шаблонов атак.</a:t>
            </a:r>
            <a:endParaRPr b="0" sz="1800">
              <a:solidFill>
                <a:schemeClr val="dk1"/>
              </a:solidFill>
            </a:endParaRPr>
          </a:p>
          <a:p>
            <a:pPr indent="-273050" lvl="0" marL="27305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sz="2000"/>
          </a:p>
          <a:p>
            <a:pPr indent="-273050" lvl="0" marL="27305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lang="ru-RU" sz="1800"/>
              <a:t>	Задачи: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lang="ru-RU" sz="1800"/>
              <a:t>—  Аналитический обзор предметной области обнаружения аномалий в сетях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Arial"/>
              <a:buNone/>
            </a:pPr>
            <a:r>
              <a:rPr lang="ru-RU" sz="1800"/>
              <a:t>—  Формализация функциональных и нефункциональных требований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Arial"/>
              <a:buNone/>
            </a:pPr>
            <a:r>
              <a:rPr lang="ru-RU" sz="1800"/>
              <a:t>—  Проектирование методики и архитектуры нейросетевого детектора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Arial"/>
              <a:buNone/>
            </a:pPr>
            <a:r>
              <a:rPr lang="ru-RU" sz="1800"/>
              <a:t>—  Разработка подсистемы предобработки и формирования выборок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Arial"/>
              <a:buNone/>
            </a:pPr>
            <a:r>
              <a:rPr lang="ru-RU" sz="1800"/>
              <a:t>—  Реализация и обучение нейросетевых моделей в едином регистре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Arial"/>
              <a:buNone/>
            </a:pPr>
            <a:r>
              <a:rPr lang="ru-RU" sz="1800"/>
              <a:t>—  Разработка конечно-автоматного агента активного тестирования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Arial"/>
              <a:buNone/>
            </a:pPr>
            <a:r>
              <a:rPr lang="ru-RU" sz="1800"/>
              <a:t>—  Реализация программного прототипа в реальном времени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Arial"/>
              <a:buNone/>
            </a:pPr>
            <a:r>
              <a:rPr lang="ru-RU" sz="1800"/>
              <a:t>—  Экспериментальная проверка эффективности методики (E1-E6)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Arial"/>
              <a:buNone/>
            </a:pPr>
            <a:r>
              <a:rPr lang="ru-RU" sz="1800"/>
              <a:t>—  Оценка эксплуатационных характеристик и оформление материалов</a:t>
            </a:r>
            <a:endParaRPr sz="1800"/>
          </a:p>
        </p:txBody>
      </p:sp>
      <p:sp>
        <p:nvSpPr>
          <p:cNvPr id="83" name="Google Shape;83;p8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 txBox="1"/>
          <p:nvPr>
            <p:ph type="title"/>
          </p:nvPr>
        </p:nvSpPr>
        <p:spPr>
          <a:xfrm>
            <a:off x="609600" y="274638"/>
            <a:ext cx="9956700" cy="1143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 sz="3200"/>
              <a:t>Объект и предмет исследования</a:t>
            </a:r>
            <a:endParaRPr/>
          </a:p>
        </p:txBody>
      </p:sp>
      <p:sp>
        <p:nvSpPr>
          <p:cNvPr id="90" name="Google Shape;90;p9"/>
          <p:cNvSpPr txBox="1"/>
          <p:nvPr>
            <p:ph idx="1" type="body"/>
          </p:nvPr>
        </p:nvSpPr>
        <p:spPr>
          <a:xfrm>
            <a:off x="609600" y="1600200"/>
            <a:ext cx="9956700" cy="48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ru-RU"/>
              <a:t>Объект исследования: Методы и технологии обнаружения аномальной активности и несанкционированных действий в корпоративных сетях на основе данных мониторинга, прежде всего телеметрии сетевого трафика. Данные о поведении пользователей рассматриваются в теоретической части как один из возможных источников, в экспериментальной реализации и валидации не используются. </a:t>
            </a:r>
            <a:endParaRPr b="0">
              <a:solidFill>
                <a:schemeClr val="dk1"/>
              </a:solidFill>
            </a:endParaRPr>
          </a:p>
          <a:p>
            <a:pPr indent="-273050" lvl="0" marL="27305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20"/>
              <a:buFont typeface="Noto Sans Symbols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ru-RU"/>
              <a:t>Предмет исследования: Применение нейросетевых методов для выявления аномалий и признаков несанкционированной активности по данным сетевого трафика, а также разработка и применение программного агента на основе конечного автомата и библиотеки параметризованных атакующих шаблонов для синтеза трафика и сценариев активного тестирования и валидации системы обнаружения.</a:t>
            </a:r>
            <a:endParaRPr sz="2200"/>
          </a:p>
        </p:txBody>
      </p:sp>
      <p:sp>
        <p:nvSpPr>
          <p:cNvPr id="91" name="Google Shape;91;p9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0"/>
          <p:cNvSpPr txBox="1"/>
          <p:nvPr>
            <p:ph type="title"/>
          </p:nvPr>
        </p:nvSpPr>
        <p:spPr>
          <a:xfrm>
            <a:off x="609600" y="274638"/>
            <a:ext cx="9956700" cy="1143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6"/>
              <a:buFont typeface="Arial"/>
              <a:buNone/>
            </a:pPr>
            <a:r>
              <a:rPr lang="ru-RU" sz="3200"/>
              <a:t>Методология и методы исследования</a:t>
            </a:r>
            <a:endParaRPr/>
          </a:p>
        </p:txBody>
      </p:sp>
      <p:sp>
        <p:nvSpPr>
          <p:cNvPr id="98" name="Google Shape;98;p10"/>
          <p:cNvSpPr txBox="1"/>
          <p:nvPr>
            <p:ph idx="1" type="body"/>
          </p:nvPr>
        </p:nvSpPr>
        <p:spPr>
          <a:xfrm>
            <a:off x="609600" y="1161525"/>
            <a:ext cx="9956700" cy="56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Arial"/>
              <a:buNone/>
            </a:pPr>
            <a:r>
              <a:rPr lang="ru-RU" sz="2000">
                <a:solidFill>
                  <a:srgbClr val="1F294A"/>
                </a:solidFill>
              </a:rPr>
              <a:t>—  Системный анализ предметной области и сравнительный обзор подходов NIDS/NTA по рецензируемым публикациям и нормативным документам РФ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Arial"/>
              <a:buNone/>
            </a:pPr>
            <a:r>
              <a:rPr lang="ru-RU" sz="2000">
                <a:solidFill>
                  <a:srgbClr val="1F294A"/>
                </a:solidFill>
              </a:rPr>
              <a:t>—  Балльная оценка нейросетевых архитектур и публично доступных датасетов NIDS по литературно обоснованным критериям с весами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Arial"/>
              <a:buNone/>
            </a:pPr>
            <a:r>
              <a:rPr lang="ru-RU" sz="2000">
                <a:solidFill>
                  <a:srgbClr val="1F294A"/>
                </a:solidFill>
              </a:rPr>
              <a:t>—  Формализация функциональных и нефункциональных требований и количественных критериев качества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Arial"/>
              <a:buNone/>
            </a:pPr>
            <a:r>
              <a:rPr lang="ru-RU" sz="2000">
                <a:solidFill>
                  <a:srgbClr val="1F294A"/>
                </a:solidFill>
              </a:rPr>
              <a:t>—  Обучение нейросетевых и классических моделей в идентичных условиях; ensemble-усреднение вероятностей по нескольким seed для CNN-LSTM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Arial"/>
              <a:buNone/>
            </a:pPr>
            <a:r>
              <a:rPr lang="ru-RU" sz="2000">
                <a:solidFill>
                  <a:srgbClr val="1F294A"/>
                </a:solidFill>
              </a:rPr>
              <a:t>—  Калибровка вероятностей через температурное масштабирование (Guo et al. 2017) и порог под целевой FPR=0.01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Arial"/>
              <a:buNone/>
            </a:pPr>
            <a:r>
              <a:rPr lang="ru-RU" sz="2000">
                <a:solidFill>
                  <a:srgbClr val="1F294A"/>
                </a:solidFill>
              </a:rPr>
              <a:t>—  Стресс-тестирование детектора посредством программного агента на основе конечного автомата с библиотекой параметризованных шаблонов и инжектором дрейфа (PSI/KL/MMD)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Arial"/>
              <a:buNone/>
            </a:pPr>
            <a:r>
              <a:rPr lang="ru-RU" sz="2000">
                <a:solidFill>
                  <a:srgbClr val="1F294A"/>
                </a:solidFill>
              </a:rPr>
              <a:t>—  Статистический анализ: bootstrap-доверительные интервалы 95%, парный непараметрический критерий Уилкоксона при сравнении моделей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None/>
            </a:pPr>
            <a:r>
              <a:rPr lang="ru-RU" sz="2000">
                <a:solidFill>
                  <a:srgbClr val="1F294A"/>
                </a:solidFill>
              </a:rPr>
              <a:t>—  Инженерные методы: модульное проектирование, YAML-конфигурация, юнит-тестирование критических инвариантов pipeline</a:t>
            </a:r>
            <a:endParaRPr/>
          </a:p>
        </p:txBody>
      </p:sp>
      <p:sp>
        <p:nvSpPr>
          <p:cNvPr id="99" name="Google Shape;99;p10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1"/>
          <p:cNvSpPr txBox="1"/>
          <p:nvPr>
            <p:ph type="title"/>
          </p:nvPr>
        </p:nvSpPr>
        <p:spPr>
          <a:xfrm>
            <a:off x="609600" y="274638"/>
            <a:ext cx="9956700" cy="1143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3200"/>
              <a:t>Гипотеза</a:t>
            </a:r>
            <a:endParaRPr sz="3200"/>
          </a:p>
        </p:txBody>
      </p:sp>
      <p:sp>
        <p:nvSpPr>
          <p:cNvPr id="106" name="Google Shape;106;p11"/>
          <p:cNvSpPr txBox="1"/>
          <p:nvPr>
            <p:ph idx="1" type="body"/>
          </p:nvPr>
        </p:nvSpPr>
        <p:spPr>
          <a:xfrm>
            <a:off x="609600" y="1600200"/>
            <a:ext cx="9956700" cy="25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Методика обнаружения, использующая нейросетевую обработку последовательностей flow-признаков в скользящих окнах и валидируемая конечно-автоматным агентом с контролируемым инжектированием дрейфа распределений, превосходит классические сигнатурные и статистические подходы NIDS по комплексному критерию качества (точность, полнота, FPR при заданной полноте, задержка детекции, устойчивость к дрейфу).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/>
          </a:p>
        </p:txBody>
      </p:sp>
      <p:sp>
        <p:nvSpPr>
          <p:cNvPr id="107" name="Google Shape;107;p11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2"/>
          <p:cNvSpPr txBox="1"/>
          <p:nvPr>
            <p:ph type="title"/>
          </p:nvPr>
        </p:nvSpPr>
        <p:spPr>
          <a:xfrm>
            <a:off x="426750" y="92349"/>
            <a:ext cx="9956700" cy="6099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3200"/>
              <a:t>Балльная оценка нейросетевых архитектур</a:t>
            </a:r>
            <a:endParaRPr sz="3200"/>
          </a:p>
        </p:txBody>
      </p:sp>
      <p:sp>
        <p:nvSpPr>
          <p:cNvPr id="114" name="Google Shape;114;p12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15" name="Google Shape;115;p12"/>
          <p:cNvSpPr txBox="1"/>
          <p:nvPr/>
        </p:nvSpPr>
        <p:spPr>
          <a:xfrm>
            <a:off x="492715" y="702245"/>
            <a:ext cx="11338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ru-RU" sz="1200" u="none" cap="none" strike="noStrike">
                <a:solidFill>
                  <a:srgbClr val="1F29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Таблица 1 - Взвешенная сравнительная оценка девяти нейросетевых архитектур по семи критериям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graphicFrame>
        <p:nvGraphicFramePr>
          <p:cNvPr id="116" name="Google Shape;116;p12"/>
          <p:cNvGraphicFramePr/>
          <p:nvPr/>
        </p:nvGraphicFramePr>
        <p:xfrm>
          <a:off x="492725" y="979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{8BE2F96C-885A-440B-95ED-0E968FDA96B4}</a:tableStyleId>
              </a:tblPr>
              <a:tblGrid>
                <a:gridCol w="1165475"/>
                <a:gridCol w="1311250"/>
                <a:gridCol w="1222625"/>
                <a:gridCol w="1695575"/>
                <a:gridCol w="966675"/>
                <a:gridCol w="1032975"/>
                <a:gridCol w="1536525"/>
                <a:gridCol w="1105400"/>
                <a:gridCol w="918975"/>
              </a:tblGrid>
              <a:tr h="1088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Архитектура</a:t>
                      </a:r>
                      <a:endParaRPr sz="13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Моделирование локальных паттернов</a:t>
                      </a:r>
                      <a:endParaRPr sz="13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(0,15)</a:t>
                      </a:r>
                      <a:endParaRPr sz="13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Моделирование временных зависимостей</a:t>
                      </a:r>
                      <a:endParaRPr sz="13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(0,20)</a:t>
                      </a:r>
                      <a:endParaRPr sz="13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F1/Accuracy в рецензируемых работах на современных датасетах NIDS(0,25)</a:t>
                      </a:r>
                      <a:endParaRPr sz="13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Сложность обучения</a:t>
                      </a:r>
                      <a:endParaRPr sz="13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(0,05)</a:t>
                      </a:r>
                      <a:endParaRPr sz="13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Inference latency на CPU(0,15)</a:t>
                      </a:r>
                      <a:endParaRPr sz="13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Число независимых воспроизведений</a:t>
                      </a:r>
                      <a:endParaRPr sz="13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(0,10)</a:t>
                      </a:r>
                      <a:endParaRPr sz="13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Гибкость расширения</a:t>
                      </a:r>
                      <a:endParaRPr sz="13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(0,10)</a:t>
                      </a:r>
                      <a:endParaRPr sz="13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Балл</a:t>
                      </a:r>
                      <a:endParaRPr sz="13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MLP [4]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2,15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1D-CNN [3]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3,3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LSTM [5]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3,15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GRU [2]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3,2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BiLSTM [2]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3,55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TCN [6]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3,4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4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CNN-LSTM [4, 7]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4,6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4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Transformer-encoder [8]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3,45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6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AE / VAE [9]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2,4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7" name="Google Shape;117;p12"/>
          <p:cNvSpPr txBox="1"/>
          <p:nvPr/>
        </p:nvSpPr>
        <p:spPr>
          <a:xfrm>
            <a:off x="245500" y="5227300"/>
            <a:ext cx="112512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Khraisat A. Survey of intrusion detection systems: techniques, datasets and challenges / A. Khraisat, I. Gondal, P. Vamplew, J. Kamruzzaman // Cybersecurity. 2019. Vol. 2, № 1. P. 1-22.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Ahmad Z. Network intrusion detection system: A systematic study of machine learning and deep learning approaches / Z. Ahmad, A. Shahid Khan, C. Wai Shiang, J. Abdullah, F. Ahmad // Transactions on Emerging Telecommunications Technologies. 2021. Vol. 32, № 1. P. e4150.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Ferrag M. A. Deep learning for cyber security intrusion detection: Approaches, datasets, and comparative study / M. A. Ferrag [et al.] // Journal of Information Security and Applications. 2020. Vol. 50. P. 102419.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Vinayakumar R. Deep learning approach for intelligent intrusion detection system / R. Vinayakumar [et al.] // IEEE Access. 2019. Vol. 7. P. 41525-41550.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Hochreiter S. Long Short-Term Memory / S. Hochreiter, J. Schmidhuber // Neural Computation. 1997. Vol. 9, № 8. P. 1735-1780.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Bai S. An empirical evaluation of generic convolutional and recurrent networks for sequence modeling / S. Bai, J. Z. Kolter, V. Koltun. arXiv:1803.01271. 2018.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 Enhanced network intrusion detection using a hybrid CNN-LSTM approach on UNSW-NB15 // IEEE Transactions. 2024.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 Vaswani A. Attention is all you need / A. Vaswani [et al.] // Advances in Neural Information Processing Systems (NeurIPS). 2017. P. 5998-6008.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9. Kingma D. P. Auto-encoding variational Bayes / D. P. Kingma, M. Welling // Int. Conf. on Learning Representations (ICLR). 2014.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3"/>
          <p:cNvSpPr txBox="1"/>
          <p:nvPr>
            <p:ph type="title"/>
          </p:nvPr>
        </p:nvSpPr>
        <p:spPr>
          <a:xfrm>
            <a:off x="304800" y="102375"/>
            <a:ext cx="6440400" cy="666300"/>
          </a:xfrm>
          <a:prstGeom prst="rect">
            <a:avLst/>
          </a:prstGeom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/>
              <a:t>Балльная оценка датасетов NIDS</a:t>
            </a:r>
            <a:endParaRPr sz="3200"/>
          </a:p>
        </p:txBody>
      </p:sp>
      <p:sp>
        <p:nvSpPr>
          <p:cNvPr id="124" name="Google Shape;124;p13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25" name="Google Shape;125;p13"/>
          <p:cNvSpPr txBox="1"/>
          <p:nvPr/>
        </p:nvSpPr>
        <p:spPr>
          <a:xfrm>
            <a:off x="304800" y="572450"/>
            <a:ext cx="897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200">
                <a:solidFill>
                  <a:srgbClr val="1F29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Таблица 2 - Взвешенная сравнительная оценка десяти публично доступных датасетов NIDS по восьми критериям</a:t>
            </a:r>
            <a:endParaRPr b="1" sz="1200">
              <a:solidFill>
                <a:srgbClr val="1F29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26" name="Google Shape;126;p13"/>
          <p:cNvGraphicFramePr/>
          <p:nvPr/>
        </p:nvGraphicFramePr>
        <p:xfrm>
          <a:off x="347700" y="9405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{8BE2F96C-885A-440B-95ED-0E968FDA96B4}</a:tableStyleId>
              </a:tblPr>
              <a:tblGrid>
                <a:gridCol w="1123450"/>
                <a:gridCol w="1123450"/>
                <a:gridCol w="1454750"/>
                <a:gridCol w="792150"/>
                <a:gridCol w="1481275"/>
                <a:gridCol w="1030650"/>
                <a:gridCol w="1282500"/>
                <a:gridCol w="1083700"/>
                <a:gridCol w="1083675"/>
                <a:gridCol w="778900"/>
              </a:tblGrid>
              <a:tr h="900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Датасет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Актуальность модели угроз (0,15)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Репрезентативность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нормального трафика (0,15)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Качество разметки (0,15)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Сбалансированность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распределения классов (0,10)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Пригодность для глубокого обучения (0,15)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Flow-формат и совместимость с NetFlow/IPFIX (0,10)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Воспроизводимость (0,10)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Активность использования в современной литературе (0,10)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Балл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DARPA 1998/1999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KDDCup99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2,05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NSL-KDD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2,7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UNSW-NB15 [4]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4,8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CICIDS2017 [5, 3]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3,75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CSE-CIC-IDS2018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3,5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TON-IoT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3,75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Bot-IoT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3,05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Kyoto 2006+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2,55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LITNET-2020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3,5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27" name="Google Shape;127;p13"/>
          <p:cNvSpPr txBox="1"/>
          <p:nvPr/>
        </p:nvSpPr>
        <p:spPr>
          <a:xfrm>
            <a:off x="106025" y="5248300"/>
            <a:ext cx="11295900" cy="16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Gharib A. An evaluation framework for intrusion detection dataset / A. Gharib, I. Sharafaldin, A. H. Lashkari, A. A. Ghorbani // Proc. IEEE Int. Conf. on Information Science and Security (ICISS). 2016.</a:t>
            </a:r>
            <a:endParaRPr i="1"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Ring M. A survey of network-based intrusion detection data sets / M. Ring, S. Wunderlich, D. Scheuring, D. Landes, A. Hotho // Computers &amp; Security. 2019. Vol. 86. P. 147-167.</a:t>
            </a:r>
            <a:endParaRPr i="1"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Engelen G. Troubleshooting an intrusion detection dataset: the CICIDS2017 case study / G. Engelen, V. Rimmer, W. Joosen // Proc. IEEE Security and Privacy Workshops (SPW). 2021. P. 7-12.</a:t>
            </a:r>
            <a:endParaRPr i="1"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Moustafa N. UNSW-NB15: A comprehensive data set for network intrusion detection systems / N. Moustafa, J. Slay // Proc. IEEE Military Communications and Information Systems Conf. (MilCIS). 2015. P. 1-6.</a:t>
            </a:r>
            <a:endParaRPr i="1"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Sharafaldin I. Toward generating a new intrusion detection dataset and intrusion traffic characterization / I. Sharafaldin, A. Habibi Lashkari, A. A. Ghorbani // Proc. 4th Int. Conf. on Information Systems Security and Privacy (ICISSP). 2018. P. 108-116.</a:t>
            </a:r>
            <a:r>
              <a:rPr lang="ru-RU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4"/>
          <p:cNvSpPr txBox="1"/>
          <p:nvPr>
            <p:ph type="title"/>
          </p:nvPr>
        </p:nvSpPr>
        <p:spPr>
          <a:xfrm>
            <a:off x="397575" y="75868"/>
            <a:ext cx="9956700" cy="522300"/>
          </a:xfrm>
          <a:prstGeom prst="rect">
            <a:avLst/>
          </a:prstGeom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/>
              <a:t>Функциональные требования</a:t>
            </a:r>
            <a:endParaRPr sz="3200"/>
          </a:p>
        </p:txBody>
      </p:sp>
      <p:sp>
        <p:nvSpPr>
          <p:cNvPr id="134" name="Google Shape;134;p14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graphicFrame>
        <p:nvGraphicFramePr>
          <p:cNvPr id="135" name="Google Shape;135;p14"/>
          <p:cNvGraphicFramePr/>
          <p:nvPr/>
        </p:nvGraphicFramePr>
        <p:xfrm>
          <a:off x="172325" y="742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{8BE2F96C-885A-440B-95ED-0E968FDA96B4}</a:tableStyleId>
              </a:tblPr>
              <a:tblGrid>
                <a:gridCol w="2422075"/>
                <a:gridCol w="2422075"/>
                <a:gridCol w="6612250"/>
              </a:tblGrid>
              <a:tr h="221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Группа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Шифр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Содержание требования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8600"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I. Данные и подготовка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FR-1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Загрузка и валидация телеметрии (Pydantic-схема, CSV flow UNSW-NB15 / CICIDS2017) [1]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86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FR-2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Предобработка: cleanup, one-hot / freq-encoding, log1p + robust scaling, окна W = 32, S = 8 [2, 3]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8600"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II. Модель и принятие решения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FR-3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Единый регистр 15 моделей-кандидатов (10 DL + 5 classical), общий интерфейс [4, 2]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86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FR-4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Калибровка вероятностей (T-scaling, L-BFGS) и порога τ под целевой эксплуатационный FPR [5]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8600">
                <a:tc row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III. Интерфейсы и алертинг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FR-5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Формирование алертов: 5-уровневая severity + временная дедупликация по (src, dst, attack_cat) [6]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09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FR-6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REST-API инференса: /score, /score-window, /alerts/recent (FastAPI)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86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FR-7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Визуальная панель Streamlit: дэшборд алертов, временной ряд скорингов, метрики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8600">
                <a:tc row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IV. Тестирование и эксплуатация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FR-8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Активное тестирование: FSM-агент + 7 шаблонов атак + инжектор дрейфа (covariate / prior / concept) [7]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86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FR-9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Мониторинг дрейфа распределений: PSI / KL / MMD² + индикатор drift_alarm [7]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86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FR-10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Воспроизводимость: seed-фиксация, YAML-конфиги, JSON-журналы прогонов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6" name="Google Shape;136;p14"/>
          <p:cNvSpPr txBox="1"/>
          <p:nvPr/>
        </p:nvSpPr>
        <p:spPr>
          <a:xfrm>
            <a:off x="218675" y="424075"/>
            <a:ext cx="6520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300">
                <a:solidFill>
                  <a:srgbClr val="1F29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Таблица 3 - Перечень функциональных требований к системе</a:t>
            </a:r>
            <a:endParaRPr b="1" sz="1300">
              <a:solidFill>
                <a:srgbClr val="1F29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14"/>
          <p:cNvSpPr txBox="1"/>
          <p:nvPr/>
        </p:nvSpPr>
        <p:spPr>
          <a:xfrm>
            <a:off x="218675" y="5280300"/>
            <a:ext cx="11363700" cy="15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Moustafa N. UNSW-NB15: A comprehensive data set for network intrusion detection systems / N. Moustafa, J. Slay // Proc. IEEE Military Communications and Information Systems Conf. (MilCIS). 2015. P. 1-6.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Ahmad Z. Network intrusion detection system: A systematic study of machine learning and deep learning approaches / Z. Ahmad, A. Shahid Khan, C. Wai Shiang, J. Abdullah, F. Ahmad // Transactions on Emerging Telecommunications Technologies. 2021. Vol. 32, № 1. P. e4150.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Ferrag M. A. Deep learning for cyber security intrusion detection: Approaches, datasets, and comparative study / M. A. Ferrag [et al.] // Journal of Information Security and Applications. 2020. Vol. 50. P. 102419.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Khraisat A. Survey of intrusion detection systems: techniques, datasets and challenges / A. Khraisat, I. Gondal, P. Vamplew, J. Kamruzzaman // Cybersecurity. 2019. Vol. 2, № 1. P. 1-22.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Guo C. On calibration of modern neural networks / C. Guo [et al.] // Proc. Int. Conf. on Machine Learning (ICML). 2017. P. 1321-1330.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Vinayakumar R. Deep learning approach for intelligent intrusion detection system / R. Vinayakumar [et al.] // IEEE Access. 2019. Vol. 7. P. 41525-41550.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 Gama J. A survey on concept drift adaptation / J. Gama [et al.] // ACM Computing Surveys. 2014. Vol. 46, № 4. P. 44:1-44:37.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5"/>
          <p:cNvSpPr txBox="1"/>
          <p:nvPr>
            <p:ph type="title"/>
          </p:nvPr>
        </p:nvSpPr>
        <p:spPr>
          <a:xfrm>
            <a:off x="371075" y="195150"/>
            <a:ext cx="6149100" cy="745800"/>
          </a:xfrm>
          <a:prstGeom prst="rect">
            <a:avLst/>
          </a:prstGeom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/>
              <a:t>Нефункциональные требования</a:t>
            </a:r>
            <a:endParaRPr sz="3200"/>
          </a:p>
        </p:txBody>
      </p:sp>
      <p:sp>
        <p:nvSpPr>
          <p:cNvPr id="144" name="Google Shape;144;p15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graphicFrame>
        <p:nvGraphicFramePr>
          <p:cNvPr id="145" name="Google Shape;145;p15"/>
          <p:cNvGraphicFramePr/>
          <p:nvPr/>
        </p:nvGraphicFramePr>
        <p:xfrm>
          <a:off x="371075" y="1074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{8BE2F96C-885A-440B-95ED-0E968FDA96B4}</a:tableStyleId>
              </a:tblPr>
              <a:tblGrid>
                <a:gridCol w="2703225"/>
                <a:gridCol w="2703225"/>
                <a:gridCol w="5622700"/>
              </a:tblGrid>
              <a:tr h="226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Группа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Шифр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Содержание требования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57025">
                <a:tc row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I. Качество детекции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NFR-1a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F1 на UNSW-NB15 ≥ 0,90 [1, 2]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5702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NFR-1b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PR-AUC на UNSW-NB15 ≥ 0,95 [1]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5702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NFR-2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FPR ≤ 0,01 при Recall ≥ 0,85 [3]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57025">
                <a:tc row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II. Эксплуатационная производительность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NFR-3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Inference latency ≤ 50 мс / окно (CPU, batch = 1) [1]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5702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NFR-4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Throughput ≥ 1000 EPS (CPU, батч-режим) [1]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5702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NFR-5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Time-to-detect ≤ 1 окно (DDoS / Scan / Brute force)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57025"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III. Устойчивость к дрейфу и переносимость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NFR-6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ΔF1 ≤ 0,10 при PSI ≤ 0,25 (контролируемый дрейф) [4]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375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NFR-7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ΔF1 ≤ 0,20 при cross-eval UNSW-NB15 → CICIDS2017 [5, 6]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57025"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IV. Воспроизводимость и стабильность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NFR-8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Полный прогон одной командой (make reproduce)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5702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NFR-9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σF1 ≤ 0,01 по n ≥ 3 независимым seed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46" name="Google Shape;146;p15"/>
          <p:cNvSpPr txBox="1"/>
          <p:nvPr/>
        </p:nvSpPr>
        <p:spPr>
          <a:xfrm>
            <a:off x="371075" y="734900"/>
            <a:ext cx="8508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300">
                <a:solidFill>
                  <a:srgbClr val="1F29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Таблица 4 - Перечень нефункциональных требований с числовыми порогами</a:t>
            </a:r>
            <a:endParaRPr b="1" sz="1300">
              <a:solidFill>
                <a:srgbClr val="1F29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15"/>
          <p:cNvSpPr txBox="1"/>
          <p:nvPr/>
        </p:nvSpPr>
        <p:spPr>
          <a:xfrm>
            <a:off x="158925" y="5087525"/>
            <a:ext cx="11241300" cy="18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Vinayakumar R. Deep learning approach for intelligent intrusion detection system / R. Vinayakumar [et al.] // IEEE Access. 2019. Vol. 7. P. 41525-41550.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Moustafa N. UNSW-NB15: A comprehensive data set for network intrusion detection systems / N. Moustafa, J. Slay // Proc. IEEE Military Communications and Information Systems Conf. (MilCIS). 2015. P. 1-6.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Guo C. On calibration of modern neural networks / C. Guo [et al.] // Proc. Int. Conf. on Machine Learning (ICML). 2017. P. 1321-1330.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Gama J. A survey on concept drift adaptation / J. Gama [et al.] // ACM Computing Surveys. 2014. Vol. 46, № 4. P. 44:1-44:37.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Engelen G. Troubleshooting an intrusion detection dataset: the CICIDS2017 case study / G. Engelen, V. Rimmer, W. Joosen // Proc. IEEE Security and Privacy Workshops (SPW). 2021. P. 7-12.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Farooq M. A detailed analysis of benchmark datasets for network intrusion detection system / M. Farooq [et al.]. arXiv:2403.17458. 2024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/>
          <p:nvPr>
            <p:ph type="title"/>
          </p:nvPr>
        </p:nvSpPr>
        <p:spPr>
          <a:xfrm>
            <a:off x="291575" y="681250"/>
            <a:ext cx="5883900" cy="4542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lang="ru-RU" sz="3200"/>
              <a:t>Общая архитектура и подсистемы</a:t>
            </a:r>
            <a:endParaRPr sz="3200"/>
          </a:p>
        </p:txBody>
      </p:sp>
      <p:sp>
        <p:nvSpPr>
          <p:cNvPr id="154" name="Google Shape;154;p16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291575" y="4350725"/>
            <a:ext cx="10956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1F29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Рисунок 1 - Общая архитектура методики обнаружения: BPMN-схема потоков данных с параллельными ветвями мониторинга дрейфа и активного тестирования</a:t>
            </a:r>
            <a:endParaRPr sz="1200">
              <a:solidFill>
                <a:srgbClr val="1F29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16"/>
          <p:cNvSpPr txBox="1"/>
          <p:nvPr/>
        </p:nvSpPr>
        <p:spPr>
          <a:xfrm>
            <a:off x="198700" y="4734175"/>
            <a:ext cx="107757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Условные обозначения BPMN:  ● — событие (start / end),  ▭ — задача (подсистема),  ◇ (+) — параллельный шлюз (fork / join),  → — поток данных / управления.  Цвет дорожек:  синий — основная цепочка обнаружения;  зелёный — мониторинг дрейфа распределений;  оранжевый — активное тестирование FSM-агентом (только на стенде).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p16"/>
          <p:cNvSpPr txBox="1"/>
          <p:nvPr/>
        </p:nvSpPr>
        <p:spPr>
          <a:xfrm>
            <a:off x="161875" y="5466163"/>
            <a:ext cx="11484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100">
                <a:solidFill>
                  <a:srgbClr val="4F6EB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Пайплайн обработки одного окна:  flow-записи → схема → cleanup → encoding → scaling → окно W × F → модель → калибровка p̂ → порог τ → алерт (severity, dedup) → JSONL / REST.</a:t>
            </a:r>
            <a:endParaRPr b="1" sz="1100">
              <a:solidFill>
                <a:srgbClr val="4F6EB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8" name="Google Shape;15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850" y="1229425"/>
            <a:ext cx="11623527" cy="302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7"/>
          <p:cNvSpPr txBox="1"/>
          <p:nvPr>
            <p:ph type="title"/>
          </p:nvPr>
        </p:nvSpPr>
        <p:spPr>
          <a:xfrm>
            <a:off x="254975" y="66750"/>
            <a:ext cx="6006000" cy="7404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3200"/>
              <a:t>Целевая архитектура CNN-LSTM</a:t>
            </a:r>
            <a:endParaRPr sz="3200"/>
          </a:p>
        </p:txBody>
      </p:sp>
      <p:sp>
        <p:nvSpPr>
          <p:cNvPr id="165" name="Google Shape;165;p17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166" name="Google Shape;16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350" y="904925"/>
            <a:ext cx="11612100" cy="412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 txBox="1"/>
          <p:nvPr/>
        </p:nvSpPr>
        <p:spPr>
          <a:xfrm>
            <a:off x="117350" y="5032725"/>
            <a:ext cx="114633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1F29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Рисунок 2 - Двухдорожечная блочная диаграмма детектора CNN-LSTM: дорожка I - извлечение признаков нейросетью; дорожка II - калибровка вероятностей и принятие решения</a:t>
            </a:r>
            <a:endParaRPr sz="1200">
              <a:solidFill>
                <a:srgbClr val="1F29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/>
          <p:cNvSpPr txBox="1"/>
          <p:nvPr>
            <p:ph type="title"/>
          </p:nvPr>
        </p:nvSpPr>
        <p:spPr>
          <a:xfrm>
            <a:off x="609600" y="274638"/>
            <a:ext cx="9956700" cy="1143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3200"/>
              <a:t>Конечно-автоматный агент активного тестирования</a:t>
            </a:r>
            <a:endParaRPr sz="3200"/>
          </a:p>
        </p:txBody>
      </p:sp>
      <p:sp>
        <p:nvSpPr>
          <p:cNvPr id="174" name="Google Shape;174;p18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244515" y="1417645"/>
            <a:ext cx="113385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00" spcFirstLastPara="1" rIns="72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 состояний FSM:  NORMAL  +  7 ATTACK  +  3 DRIFT [</a:t>
            </a:r>
            <a:r>
              <a:rPr b="1" lang="ru-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1" i="0" lang="ru-RU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8"/>
          <p:cNvSpPr txBox="1"/>
          <p:nvPr/>
        </p:nvSpPr>
        <p:spPr>
          <a:xfrm>
            <a:off x="244515" y="1829125"/>
            <a:ext cx="11338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ru-RU" sz="1500" u="none" cap="none" strike="noStrike">
                <a:solidFill>
                  <a:srgbClr val="1F29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Таблица 5 - Библиотека параметризованных шаблонов атак агента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7" name="Google Shape;177;p18"/>
          <p:cNvGraphicFramePr/>
          <p:nvPr/>
        </p:nvGraphicFramePr>
        <p:xfrm>
          <a:off x="244515" y="22406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{1EAEE3CE-7F1A-4149-BC94-C26FFA42A122}</a:tableStyleId>
              </a:tblPr>
              <a:tblGrid>
                <a:gridCol w="2377450"/>
                <a:gridCol w="2743200"/>
                <a:gridCol w="621792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7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Шаблон</a:t>
                      </a:r>
                      <a:endParaRPr sz="1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7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Класс UNSW [2]</a:t>
                      </a:r>
                      <a:endParaRPr sz="1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7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Характерные признаки</a:t>
                      </a:r>
                      <a:endParaRPr sz="1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7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ddos_synflood</a:t>
                      </a:r>
                      <a:endParaRPr sz="1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7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DoS</a:t>
                      </a:r>
                      <a:endParaRPr sz="1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7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Высокая скорость, доминирование SYN, малые sbytes</a:t>
                      </a:r>
                      <a:endParaRPr sz="1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7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port_scan</a:t>
                      </a:r>
                      <a:endParaRPr sz="1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7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Reconnaissance</a:t>
                      </a:r>
                      <a:endParaRPr sz="1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7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Малые dur, фан-аут на портах, малый dbytes</a:t>
                      </a:r>
                      <a:endParaRPr sz="1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7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brute_force</a:t>
                      </a:r>
                      <a:endParaRPr sz="1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7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Reconnaissance / Exploits</a:t>
                      </a:r>
                      <a:endParaRPr sz="1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7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Повторяющиеся короткие сессии на одном порту</a:t>
                      </a:r>
                      <a:endParaRPr sz="1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7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exploit_payload</a:t>
                      </a:r>
                      <a:endParaRPr sz="1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7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Exploits</a:t>
                      </a:r>
                      <a:endParaRPr sz="1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7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Большие sbytes, аномальные сочетания TCP-флагов</a:t>
                      </a:r>
                      <a:endParaRPr sz="1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7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data_exfil</a:t>
                      </a:r>
                      <a:endParaRPr sz="1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7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Backdoors</a:t>
                      </a:r>
                      <a:endParaRPr sz="1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7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Длинные сессии, асимметрия b_out/b_in, стабильная скорость</a:t>
                      </a:r>
                      <a:endParaRPr sz="1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7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internal_recon</a:t>
                      </a:r>
                      <a:endParaRPr sz="1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7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Reconnaissance</a:t>
                      </a:r>
                      <a:endParaRPr sz="1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7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Внутренние IP-источники, фан-аут по dst</a:t>
                      </a:r>
                      <a:endParaRPr sz="1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7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worm_lateral</a:t>
                      </a:r>
                      <a:endParaRPr sz="1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7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Worms</a:t>
                      </a:r>
                      <a:endParaRPr sz="1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7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Веерное распространение по портам и хостам</a:t>
                      </a:r>
                      <a:endParaRPr sz="1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8" name="Google Shape;178;p18"/>
          <p:cNvSpPr txBox="1"/>
          <p:nvPr/>
        </p:nvSpPr>
        <p:spPr>
          <a:xfrm>
            <a:off x="244515" y="5623885"/>
            <a:ext cx="1133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00" spcFirstLastPara="1" rIns="72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ru-RU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Инжектор дрейфа [</a:t>
            </a:r>
            <a:r>
              <a:rPr lang="ru-RU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ru-RU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]: covariate (сдвиг масштаба и шума), prior (изменение долей классов), concept (маскирование сигнатурных признаков). Интенсивность alpha в {0; 0,25; 0,5; 0,75; 1,0}.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8"/>
          <p:cNvSpPr txBox="1"/>
          <p:nvPr/>
        </p:nvSpPr>
        <p:spPr>
          <a:xfrm>
            <a:off x="244525" y="6067050"/>
            <a:ext cx="11583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Gama J. A survey on concept drift adaptation / J. Gama [et al.] // ACM Computing Surveys. 2014. Vol. 46, № 4. P. 44:1-44:37.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Moustafa N. UNSW-NB15: A comprehensive data set for network intrusion detection systems / N. Moustafa, J. Slay // Proc. IEEE Military </a:t>
            </a:r>
            <a:endParaRPr i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Communications and Information Systems Conf. (MilCIS). 2015. P. 1-6.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9"/>
          <p:cNvSpPr txBox="1"/>
          <p:nvPr>
            <p:ph type="title"/>
          </p:nvPr>
        </p:nvSpPr>
        <p:spPr>
          <a:xfrm>
            <a:off x="543350" y="-6"/>
            <a:ext cx="9956700" cy="613200"/>
          </a:xfrm>
          <a:prstGeom prst="rect">
            <a:avLst/>
          </a:prstGeom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Технологический стек</a:t>
            </a:r>
            <a:endParaRPr sz="3200"/>
          </a:p>
        </p:txBody>
      </p:sp>
      <p:sp>
        <p:nvSpPr>
          <p:cNvPr id="186" name="Google Shape;186;p19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graphicFrame>
        <p:nvGraphicFramePr>
          <p:cNvPr id="187" name="Google Shape;187;p19"/>
          <p:cNvGraphicFramePr/>
          <p:nvPr/>
        </p:nvGraphicFramePr>
        <p:xfrm>
          <a:off x="330150" y="74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{8BE2F96C-885A-440B-95ED-0E968FDA96B4}</a:tableStyleId>
              </a:tblPr>
              <a:tblGrid>
                <a:gridCol w="1345250"/>
                <a:gridCol w="2753925"/>
                <a:gridCol w="7067375"/>
              </a:tblGrid>
              <a:tr h="236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Компонент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Выбор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Ключевой довод выбора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6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DL-фреймворк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PyTorch 2.x (CPU) [1]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Динамический вычислительный граф; стандарт в публикациях NIDS 2023-2025; CPU-сборка укладывается в NFR-3 (latency 1,16 мс на окно)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6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Классические модели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scikit-learn 1.x + XGBoost 2.x [2, 3]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scikit-learn - эталонный воспроизводимый ML; XGBoost - лидер по F1 среди gradient-boosting на UNSW-NB15 и CICIDS2017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6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Unsupervised baselines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Isolation Forest, OC-SVM, AE, VAE [4, 5]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Isolation Forest - эталонный outlier detection; VAE - генеративный baseline; AE - классика anomaly detection в NIDS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6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Функция потерь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Focal loss (alpha = 0,25, gamma = 2,0) [6]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Снижает влияние easy-negatives на градиент; обоснованно применима при imbalance 13:87 (UNSW-NB15)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6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Оптимизатор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AdamW + cosine annealing [7]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Корректное weight decay через decoupled regularization; cosine annealing стабильнее ступенчатого LR-decay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6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Калибровка вероятностей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Temperature scaling (L-BFGS) [8]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Сохраняет ranking AUC; единственная скалярная переменная T; снижение ECE на 67 % в эксперименте E3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6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Валидация конфигов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Pydantic v2 + PyYAML 6.x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Декларативная типизация с runtime-проверками; экспорт в JSON Schema; минимум boilerplate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6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REST-сервис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FastAPI + uvicorn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ASGI с async/await; автогенерация OpenAPI; встроенная валидация request/response через Pydantic; низкая latency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6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UI / дэшборд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Streamlit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Минимум кода для оперативного дэшборда; нативная поддержка pandas и matplotlib; production-ready hot-reload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6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Тестирование, сборка, лог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pytest 8.x; Make + YAML; logging stdlib + JSONL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86 проходящих юнит-тестов в 11 модулях; YAML-конфиги для каждого эксперимента; JSON Lines-формат под интеграцию с SIEM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8" name="Google Shape;188;p19"/>
          <p:cNvSpPr txBox="1"/>
          <p:nvPr/>
        </p:nvSpPr>
        <p:spPr>
          <a:xfrm>
            <a:off x="330150" y="432475"/>
            <a:ext cx="928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200">
                <a:solidFill>
                  <a:srgbClr val="1F29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Таблица 6 - Сводный технологический стек прототипа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261425" y="5358850"/>
            <a:ext cx="113040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Paszke A. PyTorch: An imperative style, high-performance deep learning library / A. Paszke [et al.] // Advances in Neural Information Processing Systems (NeurIPS). 2019. P. 8024-8035.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Chen T. XGBoost: A scalable tree boosting system / T. Chen, C. Guestrin // Proc. 22nd ACM SIGKDD Conf. on Knowledge Discovery and Data Mining (KDD). 2016. P. 785-794.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Pedregosa F. Scikit-learn: Machine learning in Python / F. Pedregosa [et al.] // Journal of Machine Learning Research. 2011. Vol. 12. P. 2825-2830.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Liu F. T. Isolation forest / F. T. Liu, K. M. Ting, Z.-H. Zhou // Proc. IEEE Int. Conf. on Data Mining (ICDM). 2008. P. 413-422.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Kingma D. P. Auto-encoding variational Bayes / D. P. Kingma, M. Welling // Int. Conf. on Learning Representations (ICLR). 2014.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Lin T.-Y. Focal loss for dense object detection / T.-Y. Lin [et al.] // Proc. IEEE Int. Conf. on Computer Vision (ICCV). 2017. P. 2980-2988.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 Loshchilov I. Decoupled weight decay regularization / I. Loshchilov, F. Hutter // Int. Conf. on Learning Representations (ICLR). 2019.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 Guo C. On calibration of modern neural networks / C. Guo [et al.] // Proc. Int. Conf. on Machine Learning (ICML). 2017. P. 1321-1330.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0"/>
          <p:cNvSpPr txBox="1"/>
          <p:nvPr>
            <p:ph type="title"/>
          </p:nvPr>
        </p:nvSpPr>
        <p:spPr>
          <a:xfrm>
            <a:off x="297250" y="124488"/>
            <a:ext cx="9956700" cy="1143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3200"/>
              <a:t>Эксперимент E1. Сравнение 15 моделей на UNSW-NB15</a:t>
            </a:r>
            <a:endParaRPr sz="3200"/>
          </a:p>
        </p:txBody>
      </p:sp>
      <p:sp>
        <p:nvSpPr>
          <p:cNvPr id="196" name="Google Shape;196;p20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289510" y="1110720"/>
            <a:ext cx="11613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ru-RU" sz="1200" u="none" cap="none" strike="noStrike">
                <a:solidFill>
                  <a:srgbClr val="1F29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Таблица </a:t>
            </a:r>
            <a:r>
              <a:rPr b="1" lang="ru-RU" sz="1200">
                <a:solidFill>
                  <a:srgbClr val="1F29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7 -</a:t>
            </a:r>
            <a:r>
              <a:rPr b="1" i="0" lang="ru-RU" sz="1200" u="none" cap="none" strike="noStrike">
                <a:solidFill>
                  <a:srgbClr val="1F29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Сводные метрики качества по результатам эксперимента E1 (топ-10 моделей)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98" name="Google Shape;198;p20"/>
          <p:cNvGraphicFramePr/>
          <p:nvPr/>
        </p:nvGraphicFramePr>
        <p:xfrm>
          <a:off x="426110" y="14378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{1EAEE3CE-7F1A-4149-BC94-C26FFA42A122}</a:tableStyleId>
              </a:tblPr>
              <a:tblGrid>
                <a:gridCol w="1383825"/>
                <a:gridCol w="1383825"/>
                <a:gridCol w="1383825"/>
                <a:gridCol w="1383825"/>
                <a:gridCol w="1383825"/>
                <a:gridCol w="1383825"/>
                <a:gridCol w="1383825"/>
                <a:gridCol w="1383825"/>
              </a:tblGrid>
              <a:tr h="324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Модель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F1-max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PR-AUC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ROC-AUC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MCC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Op. F1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Op. FPR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0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CNN-LSTM (proposed)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0,9735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0,9945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0,9923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0,918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0,9712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0,0095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0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XGBoost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0,9651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0,9932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0,9870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0,889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0,9650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0,108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0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Random Forest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0,9623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0,9922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0,9853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0,879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0,9603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0,105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0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GRU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0,9601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0,9894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0,9785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0,873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0,9347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0,055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0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MLP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0,9548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0,9878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0,9770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0,855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0,9144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0,057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0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Transformer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0,9543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0,9829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0,9683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0,852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0,8744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0,057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0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BiLSTM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0,9517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0,9868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0,9750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0,848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0,8848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0,043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0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TCN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0,9508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0,9818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0,9708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0,844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0,8519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0,035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0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Logistic Regression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0,9507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0,9732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0,9523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0,846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0,9476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0,084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0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LSTM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0,9483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0,9876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0,9736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0,840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0,9317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0,054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"/>
          <p:cNvSpPr txBox="1"/>
          <p:nvPr>
            <p:ph type="title"/>
          </p:nvPr>
        </p:nvSpPr>
        <p:spPr>
          <a:xfrm>
            <a:off x="609600" y="274638"/>
            <a:ext cx="9956700" cy="1143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3200"/>
              <a:t>Эксперимент E1. Ранжирование моделей по F1-max</a:t>
            </a:r>
            <a:endParaRPr sz="3200"/>
          </a:p>
        </p:txBody>
      </p:sp>
      <p:sp>
        <p:nvSpPr>
          <p:cNvPr id="205" name="Google Shape;205;p21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548650" y="1494275"/>
            <a:ext cx="2929200" cy="10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00" spcFirstLastPara="1" rIns="72000" wrap="square" tIns="36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ru-RU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CNN-LSTM лидирует по F1-max (0,9735) среди 15 моделей; проигрывает только по latency и throughput (архитектурное ограничение LSTM на CPU).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3477850" y="6092825"/>
            <a:ext cx="76671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00" spcFirstLastPara="1" rIns="72000" wrap="square" tIns="36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Рисунок 3 - Ранжирование моделей на UNSW-NB15 по F1-max</a:t>
            </a:r>
            <a:endParaRPr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8" name="Google Shape;2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0250" y="1570038"/>
            <a:ext cx="6951370" cy="437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2"/>
          <p:cNvSpPr txBox="1"/>
          <p:nvPr>
            <p:ph type="title"/>
          </p:nvPr>
        </p:nvSpPr>
        <p:spPr>
          <a:xfrm>
            <a:off x="609600" y="274638"/>
            <a:ext cx="9956700" cy="1143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3200"/>
              <a:t>Эксперимент E2. Анализ ошибок CNN-LSTM</a:t>
            </a:r>
            <a:endParaRPr sz="3200"/>
          </a:p>
        </p:txBody>
      </p:sp>
      <p:sp>
        <p:nvSpPr>
          <p:cNvPr id="215" name="Google Shape;215;p22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3365247" y="5144875"/>
            <a:ext cx="8033400" cy="5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00" spcFirstLastPara="1" rIns="72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1F29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 операционном пороге t = 0,46: Precision = 0,9954, Recall = 0,948, F1 = 0,9712, FPR = 0,0094. Все 9 классов атак UNSW-NB15 показывают recall &gt;= 0,84; класс Generic --- 1,000.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7" name="Google Shape;21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675" y="1177738"/>
            <a:ext cx="4563249" cy="3422437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2"/>
          <p:cNvSpPr txBox="1"/>
          <p:nvPr/>
        </p:nvSpPr>
        <p:spPr>
          <a:xfrm>
            <a:off x="609600" y="4751525"/>
            <a:ext cx="42783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00" spcFirstLastPara="1" rIns="72000" wrap="square" tIns="36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Рисунок 4 - Матрица ошибок</a:t>
            </a:r>
            <a:endParaRPr i="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" name="Google Shape;219;p22"/>
          <p:cNvSpPr txBox="1"/>
          <p:nvPr/>
        </p:nvSpPr>
        <p:spPr>
          <a:xfrm>
            <a:off x="5427875" y="4373775"/>
            <a:ext cx="61266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00" spcFirstLastPara="1" rIns="72000" wrap="square" tIns="36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>
                <a:solidFill>
                  <a:srgbClr val="1F29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Рисунок 5 - Полнота модели на атаку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" name="Google Shape;22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0325" y="1229535"/>
            <a:ext cx="6456375" cy="2991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3"/>
          <p:cNvSpPr txBox="1"/>
          <p:nvPr>
            <p:ph type="title"/>
          </p:nvPr>
        </p:nvSpPr>
        <p:spPr>
          <a:xfrm>
            <a:off x="609600" y="274638"/>
            <a:ext cx="9956700" cy="1143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3200"/>
              <a:t>Эксперимент E3. Калибровка вероятностей и порога</a:t>
            </a:r>
            <a:endParaRPr sz="3200"/>
          </a:p>
        </p:txBody>
      </p:sp>
      <p:sp>
        <p:nvSpPr>
          <p:cNvPr id="227" name="Google Shape;227;p23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220310" y="1417645"/>
            <a:ext cx="11613000" cy="272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72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ru-RU" sz="13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Температурное масштабирование: p_hat = sigmoid(z / T); порог tau калиброван под target-FPR = 0,01 на val.</a:t>
            </a:r>
            <a:endParaRPr b="0" i="0" sz="15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3"/>
          <p:cNvSpPr txBox="1"/>
          <p:nvPr/>
        </p:nvSpPr>
        <p:spPr>
          <a:xfrm>
            <a:off x="220310" y="1829125"/>
            <a:ext cx="11613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ru-RU" sz="1200" u="none" cap="none" strike="noStrike">
                <a:solidFill>
                  <a:srgbClr val="1F29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Таблица </a:t>
            </a:r>
            <a:r>
              <a:rPr b="1" lang="ru-RU" sz="1200">
                <a:solidFill>
                  <a:srgbClr val="1F29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8 -</a:t>
            </a:r>
            <a:r>
              <a:rPr b="1" i="0" lang="ru-RU" sz="1200" u="none" cap="none" strike="noStrike">
                <a:solidFill>
                  <a:srgbClr val="1F29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Результаты калибровки вероятностей и порога для восьми DL-моделей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0" name="Google Shape;230;p23"/>
          <p:cNvGraphicFramePr/>
          <p:nvPr/>
        </p:nvGraphicFramePr>
        <p:xfrm>
          <a:off x="220310" y="22406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{1EAEE3CE-7F1A-4149-BC94-C26FFA42A122}</a:tableStyleId>
              </a:tblPr>
              <a:tblGrid>
                <a:gridCol w="1409550"/>
                <a:gridCol w="1409550"/>
                <a:gridCol w="1409550"/>
                <a:gridCol w="1409550"/>
                <a:gridCol w="1409550"/>
                <a:gridCol w="1409550"/>
                <a:gridCol w="1409550"/>
                <a:gridCol w="1409550"/>
              </a:tblGrid>
              <a:tr h="416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Модель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tau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ECE до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ECE после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ΔECE, %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test FPR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test F1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6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CNN-LSTM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1,418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0,460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0,088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0,029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67,1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0,0095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0,9712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6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GRU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0,251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0,374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0,481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0,455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5,5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0,055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0,9347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6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LSTM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0,378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0,267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0,485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0,455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6,3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0,054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0,9317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6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MLP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0,429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0,718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0,474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0,449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5,3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0,057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0,9144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6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BiLSTM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0,395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0,776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0,482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0,454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5,8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0,043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0,8848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6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1D-CNN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0,258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0,645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0,532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0,463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12,9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0,044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0,8791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6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Transformer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0,398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0,968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0,401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0,423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-5,5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0,057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0,8744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6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TCN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0,313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0,950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0,482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0,431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10,6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0,035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0,8519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1" name="Google Shape;231;p23"/>
          <p:cNvSpPr txBox="1"/>
          <p:nvPr/>
        </p:nvSpPr>
        <p:spPr>
          <a:xfrm>
            <a:off x="403190" y="6081085"/>
            <a:ext cx="113385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00" spcFirstLastPara="1" rIns="72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ru-RU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CNN-LSTM показывает наибольшее снижение ECE (67,1 %) и единственная удовлетворяет NFR-2 (FPR &lt;= 0,01 при Recall &gt;= 0,85).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4"/>
          <p:cNvSpPr txBox="1"/>
          <p:nvPr>
            <p:ph type="title"/>
          </p:nvPr>
        </p:nvSpPr>
        <p:spPr>
          <a:xfrm>
            <a:off x="609600" y="274638"/>
            <a:ext cx="9956700" cy="1143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3200"/>
              <a:t>Эксперимент E4. Стресс-тест с FSM-агентом</a:t>
            </a:r>
            <a:endParaRPr sz="3200"/>
          </a:p>
        </p:txBody>
      </p:sp>
      <p:sp>
        <p:nvSpPr>
          <p:cNvPr id="238" name="Google Shape;238;p24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39" name="Google Shape;239;p24"/>
          <p:cNvSpPr txBox="1"/>
          <p:nvPr/>
        </p:nvSpPr>
        <p:spPr>
          <a:xfrm>
            <a:off x="7910005" y="1426908"/>
            <a:ext cx="3657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ru-RU" sz="1200" u="none" cap="none" strike="noStrike">
                <a:solidFill>
                  <a:srgbClr val="1F29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Таблица </a:t>
            </a:r>
            <a:r>
              <a:rPr b="1" lang="ru-RU" sz="1200">
                <a:solidFill>
                  <a:srgbClr val="1F29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b="1" i="0" lang="ru-RU" sz="1200" u="none" cap="none" strike="noStrike">
                <a:solidFill>
                  <a:srgbClr val="1F29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Сводные метрики E4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4"/>
          <p:cNvSpPr txBox="1"/>
          <p:nvPr/>
        </p:nvSpPr>
        <p:spPr>
          <a:xfrm>
            <a:off x="813122" y="5378350"/>
            <a:ext cx="8258100" cy="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00" spcFirstLastPara="1" rIns="72000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1F29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Все 7 ATTACK-состояний дают recall &gt;= 0,88, 6 из 7 &gt;= 0,90. На NORMAL/DRIFT FPR &lt;= 0,030. Общий уровень E4 (F1 = 0,958) находится между E1 in-domain и E5 при alpha = 0,5, что подтверждает корректность работы pipeline в потоковом режиме.</a:t>
            </a:r>
            <a:endParaRPr b="0" i="0" sz="1600" u="none" cap="none" strike="noStrike">
              <a:solidFill>
                <a:srgbClr val="1F29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41" name="Google Shape;241;p24"/>
          <p:cNvGraphicFramePr/>
          <p:nvPr/>
        </p:nvGraphicFramePr>
        <p:xfrm>
          <a:off x="8000488" y="1828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{1EAEE3CE-7F1A-4149-BC94-C26FFA42A122}</a:tableStyleId>
              </a:tblPr>
              <a:tblGrid>
                <a:gridCol w="1752600"/>
                <a:gridCol w="1724025"/>
              </a:tblGrid>
              <a:tr h="39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ru-RU" sz="1200" u="none" cap="none" strike="noStrike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Показатель</a:t>
                      </a:r>
                      <a:endParaRPr b="1" sz="1200" u="none" cap="none" strike="noStrike">
                        <a:solidFill>
                          <a:srgbClr val="4F6EB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ru-RU" sz="1200" u="none" cap="none" strike="noStrike">
                          <a:solidFill>
                            <a:srgbClr val="4F6EB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Значение</a:t>
                      </a:r>
                      <a:endParaRPr b="1" sz="1200" u="none" cap="none" strike="noStrike">
                        <a:solidFill>
                          <a:srgbClr val="4F6EB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-RU" sz="12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Окон / атак</a:t>
                      </a:r>
                      <a:endParaRPr sz="1200" u="none" cap="none" strike="noStrike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-RU" sz="12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2497 / 1256</a:t>
                      </a:r>
                      <a:endParaRPr sz="1200" u="none" cap="none" strike="noStrike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-RU" sz="12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F1</a:t>
                      </a:r>
                      <a:endParaRPr sz="1200" u="none" cap="none" strike="noStrike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-RU" sz="12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0,958</a:t>
                      </a:r>
                      <a:endParaRPr sz="1200" u="none" cap="none" strike="noStrike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-RU" sz="12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Precision</a:t>
                      </a:r>
                      <a:endParaRPr sz="1200" u="none" cap="none" strike="noStrike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-RU" sz="12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0,975</a:t>
                      </a:r>
                      <a:endParaRPr sz="1200" u="none" cap="none" strike="noStrike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-RU" sz="12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Recall</a:t>
                      </a:r>
                      <a:endParaRPr sz="1200" u="none" cap="none" strike="noStrike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-RU" sz="12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0,942</a:t>
                      </a:r>
                      <a:endParaRPr sz="1200" u="none" cap="none" strike="noStrike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-RU" sz="12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FPR</a:t>
                      </a:r>
                      <a:endParaRPr sz="1200" u="none" cap="none" strike="noStrike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-RU" sz="12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0,024</a:t>
                      </a:r>
                      <a:endParaRPr sz="1200" u="none" cap="none" strike="noStrike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-RU" sz="12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MCC</a:t>
                      </a:r>
                      <a:endParaRPr sz="1200" u="none" cap="none" strike="noStrike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-RU" sz="12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0,921</a:t>
                      </a:r>
                      <a:endParaRPr sz="1200" u="none" cap="none" strike="noStrike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-RU" sz="12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PR-AUC</a:t>
                      </a:r>
                      <a:endParaRPr sz="1200" u="none" cap="none" strike="noStrike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-RU" sz="1200" u="none" cap="none" strike="noStrike">
                          <a:solidFill>
                            <a:srgbClr val="1F29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0,979</a:t>
                      </a:r>
                      <a:endParaRPr sz="1200" u="none" cap="none" strike="noStrike">
                        <a:solidFill>
                          <a:srgbClr val="1F294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2" name="Google Shape;242;p24"/>
          <p:cNvSpPr txBox="1"/>
          <p:nvPr/>
        </p:nvSpPr>
        <p:spPr>
          <a:xfrm>
            <a:off x="609600" y="4784025"/>
            <a:ext cx="70482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00" spcFirstLastPara="1" rIns="72000" wrap="square" tIns="36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>
                <a:solidFill>
                  <a:srgbClr val="1F29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Рисунок 6 - Поведение CNN-LSTM на каждом состоянии FSM агента</a:t>
            </a:r>
            <a:endParaRPr>
              <a:solidFill>
                <a:srgbClr val="1F29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>
              <a:solidFill>
                <a:srgbClr val="1F29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3" name="Google Shape;2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975" y="1191881"/>
            <a:ext cx="7374825" cy="35921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5"/>
          <p:cNvSpPr txBox="1"/>
          <p:nvPr>
            <p:ph type="title"/>
          </p:nvPr>
        </p:nvSpPr>
        <p:spPr>
          <a:xfrm>
            <a:off x="596375" y="168850"/>
            <a:ext cx="10377900" cy="1143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3200"/>
              <a:t>Эксперимент E5. Устойчивость к контролируемому дрейфу</a:t>
            </a:r>
            <a:endParaRPr sz="3200"/>
          </a:p>
        </p:txBody>
      </p:sp>
      <p:sp>
        <p:nvSpPr>
          <p:cNvPr id="250" name="Google Shape;250;p25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51" name="Google Shape;251;p25"/>
          <p:cNvSpPr txBox="1"/>
          <p:nvPr/>
        </p:nvSpPr>
        <p:spPr>
          <a:xfrm>
            <a:off x="519323" y="5747325"/>
            <a:ext cx="9636300" cy="9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00" spcFirstLastPara="1" rIns="72000" wrap="square" tIns="360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ru-RU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Baseline (alpha = 0): F1 = 0,9735 при PSI = 0,2</a:t>
            </a:r>
            <a:r>
              <a:rPr b="1" lang="ru-RU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1" i="0" lang="ru-RU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При максимальной интенсивности alpha = 1,0 ΔF1 = 0,082 (covariate) и 0,066 (concept); модель сохраняет F1 &gt;= 0,89 при всех уровнях дрейфа. drift_alarm срабатывает на 8 из 8 нетривиальных точек (PSI &gt; 0,25). NFR-6 выполнено.</a:t>
            </a:r>
            <a:endParaRPr b="1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rgbClr val="4F6EB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2" name="Google Shape;25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925" y="1113050"/>
            <a:ext cx="11430001" cy="4102375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5"/>
          <p:cNvSpPr txBox="1"/>
          <p:nvPr/>
        </p:nvSpPr>
        <p:spPr>
          <a:xfrm>
            <a:off x="596374" y="5215425"/>
            <a:ext cx="54996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00" spcFirstLastPara="1" rIns="72000" wrap="square" tIns="36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Рисунок 7 - Отношение F1 к интенсивности дрифта</a:t>
            </a:r>
            <a:endParaRPr i="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" name="Google Shape;254;p25"/>
          <p:cNvSpPr txBox="1"/>
          <p:nvPr/>
        </p:nvSpPr>
        <p:spPr>
          <a:xfrm>
            <a:off x="6095974" y="5215425"/>
            <a:ext cx="54996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00" spcFirstLastPara="1" rIns="72000" wrap="square" tIns="36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Рисунок 8 - Отношение PSI к интенсивности дрифта</a:t>
            </a:r>
            <a:endParaRPr i="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 txBox="1"/>
          <p:nvPr>
            <p:ph type="title"/>
          </p:nvPr>
        </p:nvSpPr>
        <p:spPr>
          <a:xfrm>
            <a:off x="609600" y="274638"/>
            <a:ext cx="9956700" cy="1143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3200"/>
              <a:t>E6 - производительность; cross-evaluation</a:t>
            </a:r>
            <a:endParaRPr sz="3200"/>
          </a:p>
        </p:txBody>
      </p:sp>
      <p:sp>
        <p:nvSpPr>
          <p:cNvPr id="261" name="Google Shape;261;p26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62" name="Google Shape;262;p26"/>
          <p:cNvSpPr txBox="1"/>
          <p:nvPr/>
        </p:nvSpPr>
        <p:spPr>
          <a:xfrm>
            <a:off x="180635" y="1251045"/>
            <a:ext cx="11613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ru-RU" sz="1200" u="none" cap="none" strike="noStrike">
                <a:solidFill>
                  <a:srgbClr val="1F29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Таблица 1</a:t>
            </a:r>
            <a:r>
              <a:rPr b="1" lang="ru-RU" sz="1200">
                <a:solidFill>
                  <a:srgbClr val="1F29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1" i="0" lang="ru-RU" sz="1200" u="none" cap="none" strike="noStrike">
                <a:solidFill>
                  <a:srgbClr val="1F29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Эксплуатационные характеристики моделей (CPU, batch = 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63" name="Google Shape;263;p26"/>
          <p:cNvGraphicFramePr/>
          <p:nvPr/>
        </p:nvGraphicFramePr>
        <p:xfrm>
          <a:off x="270772" y="16180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{1EAEE3CE-7F1A-4149-BC94-C26FFA42A122}</a:tableStyleId>
              </a:tblPr>
              <a:tblGrid>
                <a:gridCol w="2126875"/>
                <a:gridCol w="2126875"/>
                <a:gridCol w="2126875"/>
                <a:gridCol w="2126875"/>
                <a:gridCol w="2126875"/>
              </a:tblGrid>
              <a:tr h="313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Модель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Latency, мс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Throughput, EPS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NFR-3 (&lt;=50 мс)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NFR-4 (&gt;=1000 EPS)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MLP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0,25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131989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да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да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XGBoost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0,41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68385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да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да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CNN-LSTM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1,16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24560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да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да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Transformer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0,88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22960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да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да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BiLSTM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0,78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13001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да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да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3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Random Forest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42,66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4980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да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да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4" name="Google Shape;264;p26"/>
          <p:cNvSpPr txBox="1"/>
          <p:nvPr/>
        </p:nvSpPr>
        <p:spPr>
          <a:xfrm>
            <a:off x="180635" y="3948525"/>
            <a:ext cx="11613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ru-RU" sz="1200" u="none" cap="none" strike="noStrike">
                <a:solidFill>
                  <a:srgbClr val="1F29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Таблица 1</a:t>
            </a:r>
            <a:r>
              <a:rPr b="1" lang="ru-RU" sz="1200">
                <a:solidFill>
                  <a:srgbClr val="1F29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1" i="0" lang="ru-RU" sz="1200" u="none" cap="none" strike="noStrike">
                <a:solidFill>
                  <a:srgbClr val="1F29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Метрики cross-evaluation UNSW-NB15 -&gt; CICIDS2017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65" name="Google Shape;265;p26"/>
          <p:cNvGraphicFramePr/>
          <p:nvPr/>
        </p:nvGraphicFramePr>
        <p:xfrm>
          <a:off x="304972" y="43626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{1EAEE3CE-7F1A-4149-BC94-C26FFA42A122}</a:tableStyleId>
              </a:tblPr>
              <a:tblGrid>
                <a:gridCol w="3461900"/>
                <a:gridCol w="3461900"/>
                <a:gridCol w="3461900"/>
              </a:tblGrid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7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Показатель</a:t>
                      </a:r>
                      <a:endParaRPr sz="17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7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UNSW (in-domain)</a:t>
                      </a:r>
                      <a:endParaRPr sz="17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7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CICIDS</a:t>
                      </a:r>
                      <a:endParaRPr sz="17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7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F1-max</a:t>
                      </a:r>
                      <a:endParaRPr sz="17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7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0,9735</a:t>
                      </a:r>
                      <a:endParaRPr sz="17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7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0,7945</a:t>
                      </a:r>
                      <a:endParaRPr sz="17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7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F1 на UNSW-калиброванном пороге</a:t>
                      </a:r>
                      <a:endParaRPr sz="17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7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---</a:t>
                      </a:r>
                      <a:endParaRPr sz="17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7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0,7679</a:t>
                      </a:r>
                      <a:endParaRPr sz="17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7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Δ F1 (transfer)</a:t>
                      </a:r>
                      <a:endParaRPr sz="17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7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---</a:t>
                      </a:r>
                      <a:endParaRPr sz="17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7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0,181</a:t>
                      </a:r>
                      <a:endParaRPr sz="17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7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NFR-7 (Δ F1 &lt;= 0,20)</a:t>
                      </a:r>
                      <a:endParaRPr sz="17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7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---</a:t>
                      </a:r>
                      <a:endParaRPr sz="17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7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выполнено</a:t>
                      </a:r>
                      <a:endParaRPr sz="17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7"/>
          <p:cNvSpPr txBox="1"/>
          <p:nvPr>
            <p:ph type="title"/>
          </p:nvPr>
        </p:nvSpPr>
        <p:spPr>
          <a:xfrm>
            <a:off x="410800" y="-4"/>
            <a:ext cx="9956700" cy="795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3200"/>
              <a:t>Соответствие нефункциональным требованиям</a:t>
            </a:r>
            <a:endParaRPr sz="3200"/>
          </a:p>
        </p:txBody>
      </p:sp>
      <p:sp>
        <p:nvSpPr>
          <p:cNvPr id="272" name="Google Shape;272;p27"/>
          <p:cNvSpPr txBox="1"/>
          <p:nvPr>
            <p:ph idx="1" type="body"/>
          </p:nvPr>
        </p:nvSpPr>
        <p:spPr>
          <a:xfrm>
            <a:off x="226125" y="660475"/>
            <a:ext cx="99567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b="1" lang="ru-RU" sz="1200">
                <a:solidFill>
                  <a:srgbClr val="1F294A"/>
                </a:solidFill>
              </a:rPr>
              <a:t>Таблица 12 - Сводная таблица выполнения нефункциональных требований целевой моделью CNN-LSTM</a:t>
            </a:r>
            <a:endParaRPr/>
          </a:p>
        </p:txBody>
      </p:sp>
      <p:sp>
        <p:nvSpPr>
          <p:cNvPr id="273" name="Google Shape;273;p27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graphicFrame>
        <p:nvGraphicFramePr>
          <p:cNvPr id="274" name="Google Shape;274;p27"/>
          <p:cNvGraphicFramePr/>
          <p:nvPr/>
        </p:nvGraphicFramePr>
        <p:xfrm>
          <a:off x="226125" y="924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{1EAEE3CE-7F1A-4149-BC94-C26FFA42A122}</a:tableStyleId>
              </a:tblPr>
              <a:tblGrid>
                <a:gridCol w="2218975"/>
                <a:gridCol w="3288100"/>
                <a:gridCol w="1857150"/>
                <a:gridCol w="2074425"/>
                <a:gridCol w="1831925"/>
              </a:tblGrid>
              <a:tr h="361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Требование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Порог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Факт CNN-LSTM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Статус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NFR-1a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F1 на UNSW-NB15 [</a:t>
                      </a:r>
                      <a:r>
                        <a:rPr lang="ru-RU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]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&gt;= 0,90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0,9735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выполнено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NFR-1b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PR-AUC на UNSW-NB15 [</a:t>
                      </a:r>
                      <a:r>
                        <a:rPr lang="ru-RU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]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&gt;= 0,95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0,9945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выполнено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NFR-2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FPR при Recall &gt;= 0,85 [</a:t>
                      </a:r>
                      <a:r>
                        <a:rPr lang="ru-RU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]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&lt;= 0,01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0,0095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выполнено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NFR-3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Inference latency (batch = 1)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&lt;= 50 мс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1,16 мс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выполнено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NFR-4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Throughput (batch)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&gt;= 1000 EPS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24560 EPS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выполнено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NFR-5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Time-to-detect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&lt;= 1 окно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per-state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выполнено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NFR-6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ΔF1 при PSI &lt;= 0,25 [</a:t>
                      </a:r>
                      <a:r>
                        <a:rPr lang="ru-RU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]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&lt;= 0,10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≈ 0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выполнено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NFR-7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ΔF1 cross-eval UNSW-&gt;CICIDS [</a:t>
                      </a:r>
                      <a:r>
                        <a:rPr lang="ru-RU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]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&lt;= 0,20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0,181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выполнено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NFR-8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Воспроизводимость одной командой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да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make reproduce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выполнено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NFR-9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σ F1 по seed (n&gt;=3)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&lt;= 0,01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0,0014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выполнено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5" name="Google Shape;275;p27"/>
          <p:cNvSpPr txBox="1"/>
          <p:nvPr/>
        </p:nvSpPr>
        <p:spPr>
          <a:xfrm>
            <a:off x="226125" y="5700700"/>
            <a:ext cx="9660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Moustafa N. UNSW-NB15: A comprehensive data set for network intrusion detection systems / N. Moustafa, J. Slay // Proc. IEEE Military Communications and Information Systems Conf. (MilCIS). 2015. P. 1-6.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Guo C. On calibration of modern neural networks / C. Guo [et al.] // Proc. Int. Conf. on Machine Learning (ICML). 2017. P. 1321-1330.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Gama J. A survey on concept drift adaptation / J. Gama [et al.] // ACM Computing Surveys. 2014. Vol. 46, № 4. P. 44:1-44:37.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Farooq M. A detailed analysis of benchmark datasets for network intrusion detection system / M. Farooq [et al.]. arXiv:2403.17458. 2024.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8"/>
          <p:cNvSpPr txBox="1"/>
          <p:nvPr>
            <p:ph type="title"/>
          </p:nvPr>
        </p:nvSpPr>
        <p:spPr>
          <a:xfrm>
            <a:off x="609600" y="274638"/>
            <a:ext cx="9956700" cy="1143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3200"/>
              <a:t>Разработанная методика обнаружения</a:t>
            </a:r>
            <a:endParaRPr/>
          </a:p>
        </p:txBody>
      </p:sp>
      <p:sp>
        <p:nvSpPr>
          <p:cNvPr id="282" name="Google Shape;282;p28"/>
          <p:cNvSpPr txBox="1"/>
          <p:nvPr>
            <p:ph idx="1" type="body"/>
          </p:nvPr>
        </p:nvSpPr>
        <p:spPr>
          <a:xfrm>
            <a:off x="212025" y="1192525"/>
            <a:ext cx="11569200" cy="53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rPr lang="ru-RU" sz="1900"/>
              <a:t>—  Сбор и валидация входной телеметрии (CSV, NetFlow v9, IPFIX) по Pydantic-схеме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rPr lang="ru-RU" sz="1900"/>
              <a:t>—  </a:t>
            </a:r>
            <a:r>
              <a:rPr lang="ru-RU" sz="1900"/>
              <a:t>Очистка и нормализация: log1p + robust scaling, обрезка квантилей 0,001 / 0,999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rPr lang="ru-RU" sz="1900"/>
              <a:t>—  Кодирование категориальных признаков: one-hot для малой кардинальности, frequency-encoding для большой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rPr lang="ru-RU" sz="1900"/>
              <a:t>—  Формирование скользящих окон W = 32, S = 8 (75 % перекрытие), last-агрегация меток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rPr lang="ru-RU" sz="1900"/>
              <a:t>—  Нейросетевой инференс: CNN-LSTM (Conv1D x2 + BiLSTM + Attention pool + LayerNorm)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rPr lang="ru-RU" sz="1900"/>
              <a:t>—  Калибровка вероятностей (T-scaling) и порога tau под target-FPR = 0,01 на val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rPr lang="ru-RU" sz="1900"/>
              <a:t>—  Принятие решения y_hat = I[p &gt;= tau]; формирование скоринга по окну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rPr lang="ru-RU" sz="1900"/>
              <a:t>—  Формирование алертов: severity по нормированному превышению порога и временная дедупликация 5 с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rPr lang="ru-RU" sz="1900"/>
              <a:t>—  Мониторинг дрейфа: PSI / KL / MMD относительно эталонной выборки; drift_alarm при PSI &gt; 0,25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rPr lang="ru-RU" sz="1900"/>
              <a:t>—  Экспорт алертов в JSON Lines, REST-API, Streamlit-дэшборд для интеграции в SOC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sz="1900"/>
          </a:p>
        </p:txBody>
      </p:sp>
      <p:sp>
        <p:nvSpPr>
          <p:cNvPr id="283" name="Google Shape;283;p28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9"/>
          <p:cNvSpPr txBox="1"/>
          <p:nvPr>
            <p:ph type="title"/>
          </p:nvPr>
        </p:nvSpPr>
        <p:spPr>
          <a:xfrm>
            <a:off x="609600" y="274638"/>
            <a:ext cx="9956700" cy="1143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3200"/>
              <a:t>Результаты работы</a:t>
            </a:r>
            <a:endParaRPr sz="3200"/>
          </a:p>
        </p:txBody>
      </p:sp>
      <p:sp>
        <p:nvSpPr>
          <p:cNvPr id="290" name="Google Shape;290;p29"/>
          <p:cNvSpPr txBox="1"/>
          <p:nvPr>
            <p:ph idx="1" type="body"/>
          </p:nvPr>
        </p:nvSpPr>
        <p:spPr>
          <a:xfrm>
            <a:off x="238550" y="1113000"/>
            <a:ext cx="11383500" cy="53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-"/>
            </a:pPr>
            <a:r>
              <a:rPr lang="ru-RU" sz="1800"/>
              <a:t>Проведен</a:t>
            </a:r>
            <a:r>
              <a:rPr lang="ru-RU" sz="1800"/>
              <a:t> аналитический обзор предметной области обнаружения аномалий и несанкционированных действий в корпоративных сетях; выполнен сравнительный анализ 9 нейросетевых архитектур и 10 публично доступных датасетов NIDS по балльной шкале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-RU" sz="1800"/>
              <a:t>Формализованы функциональные и нефункциональные требования к системе обнаружения (10 FR + 10 NFR) и определены количественные критерии качества с числовыми порогами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-RU" sz="1800"/>
              <a:t>Спроектированы методика обнаружения аномальной активности из 10 шагов и архитектура нейросетевого детектора CNN-LSTM (Conv1D x 2 + BiLSTM + Attention pool + LayerNorm)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-RU" sz="1800"/>
              <a:t>Разработана подсистема предобработки и формирования обучающих и тестовых выборок (log1p + robust scaling, one-hot / frequency-encoding, скользящие окна W = 32, S = 8)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-RU" sz="1800"/>
              <a:t>Реализована и обучена нейросетевая модель детекции в едином программном регистре с 15 моделями-кандидатами; целевая CNN-LSTM достигла F1 = 0,9735 и PR-AUC = 0,9945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-RU" sz="1800"/>
              <a:t>Разработан конечно-автоматный агент активного тестирования (11 состояний) с библиотекой из 7 параметризованных шаблонов и инжектором дрейфа трёх типов (covariate / prior / concept)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-RU" sz="1800"/>
              <a:t>Реализован программный прототип системы обнаружения в реальном времени с REST-интерфейсом (FastAPI) и визуальной панелью (Streamlit)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-RU" sz="1800"/>
              <a:t>Проведена экспериментальная проверка эффективности методики (6 экспериментов E1-E6 и cross-evaluation на CICIDS2017) и подтверждена гипотеза исследования; FPR в 11 раз ниже XGBoost при сопоставимом F1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-RU" sz="1800"/>
              <a:t>Выполнена оценка эксплуатационных характеристик (latency 1,16 мс/окно, throughput 24 560 EPS на CPU) и оформлены итоговые материалы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sz="1800"/>
          </a:p>
        </p:txBody>
      </p:sp>
      <p:sp>
        <p:nvSpPr>
          <p:cNvPr id="291" name="Google Shape;291;p29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0"/>
          <p:cNvSpPr txBox="1"/>
          <p:nvPr>
            <p:ph type="title"/>
          </p:nvPr>
        </p:nvSpPr>
        <p:spPr>
          <a:xfrm>
            <a:off x="609600" y="274638"/>
            <a:ext cx="9956700" cy="1143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3200"/>
              <a:t>QR-код на репозиторий с исходным кодом</a:t>
            </a:r>
            <a:endParaRPr sz="3200"/>
          </a:p>
        </p:txBody>
      </p:sp>
      <p:sp>
        <p:nvSpPr>
          <p:cNvPr id="298" name="Google Shape;298;p30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99" name="Google Shape;299;p30" title="qr-cod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76100" y="1335575"/>
            <a:ext cx="4989375" cy="498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Them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