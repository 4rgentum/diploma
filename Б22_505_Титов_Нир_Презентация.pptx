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A10387-634E-4E8E-A4D1-F7D0370AEC05}">
  <a:tblStyle styleId="{69A10387-634E-4E8E-A4D1-F7D0370AEC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3ff8bb381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3ff8bb3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3ff8bb381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3ff8bb381_1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3ff8bb38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3ff8bb381_1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3ff8bb381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3ff8bb38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3ff8bb381_1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ff8bb381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3ff8bb38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3ff8bb381_1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ff8bb381_1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3ff8bb38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3ff8bb381_1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ff8bb381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3ff8bb38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e3ff8bb381_1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3ff8bb381_1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3ff8bb38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3ff8bb381_1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3ff8bb381_1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3ff8bb381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3ff8bb381_1_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3ff8bb381_1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3ff8bb38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3ff8bb381_1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3ff8bb381_1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3ff8bb38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3ff8bb381_1_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3ff8bb381_1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3ff8bb381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3ff8bb381_1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3ff8bb381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3ff8bb381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3ff8bb381_1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3ff8bb381_1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3ff8bb381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3ff8bb381_1_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3ff8bb381_1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3ff8bb381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3ff8bb381_1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3ff8bb381_1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3ff8bb381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3ff8bb381_1_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3ff8bb381_1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3ff8bb381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3ff8bb381_1_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3ff8bb381_1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3ff8bb381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3ff8bb381_1_2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3ff8bb381_1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3ff8bb381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3ff8bb381_1_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3ff8bb381_1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3ff8bb381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3ff8bb381_1_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3ff8bb381_1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3ff8bb381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3ff8bb381_1_1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3ff8bb381_1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3ff8bb381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3ff8bb381_1_2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3ff8bb381_1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3ff8bb381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3ff8bb381_1_2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3ff8bb381_1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3ff8bb381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3ff8bb381_1_2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3ff8bb381_1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3ff8bb381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3ff8bb381_1_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508000" y="0"/>
            <a:ext cx="812800" cy="6858000"/>
          </a:xfrm>
          <a:prstGeom prst="rect">
            <a:avLst/>
          </a:prstGeom>
          <a:solidFill>
            <a:srgbClr val="EAEAF3">
              <a:alpha val="5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320800" y="0"/>
            <a:ext cx="242888" cy="6858000"/>
          </a:xfrm>
          <a:prstGeom prst="rect">
            <a:avLst/>
          </a:prstGeom>
          <a:solidFill>
            <a:srgbClr val="EAEAF3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522413" y="0"/>
            <a:ext cx="306387" cy="6858000"/>
          </a:xfrm>
          <a:prstGeom prst="rect">
            <a:avLst/>
          </a:prstGeom>
          <a:solidFill>
            <a:srgbClr val="EAEAF3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141288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>
                <a:alpha val="7176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/>
          <p:nvPr/>
        </p:nvCxnSpPr>
        <p:spPr>
          <a:xfrm>
            <a:off x="1138238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2"/>
          <p:cNvCxnSpPr/>
          <p:nvPr/>
        </p:nvCxnSpPr>
        <p:spPr>
          <a:xfrm>
            <a:off x="2303463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EAEAF3">
                <a:alpha val="8078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2"/>
          <p:cNvCxnSpPr/>
          <p:nvPr/>
        </p:nvCxnSpPr>
        <p:spPr>
          <a:xfrm>
            <a:off x="142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2"/>
          <p:cNvCxnSpPr/>
          <p:nvPr/>
        </p:nvCxnSpPr>
        <p:spPr>
          <a:xfrm>
            <a:off x="12152313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EAEA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1625600" y="0"/>
            <a:ext cx="101600" cy="6858000"/>
          </a:xfrm>
          <a:prstGeom prst="rect">
            <a:avLst/>
          </a:prstGeom>
          <a:solidFill>
            <a:srgbClr val="5C7AE1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746250" y="4867275"/>
            <a:ext cx="550863" cy="55086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54150" y="5500688"/>
            <a:ext cx="144463" cy="144462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185988" y="5759450"/>
            <a:ext cx="252412" cy="25241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11250" y="4551363"/>
            <a:ext cx="307975" cy="315912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1165225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2"/>
          <p:cNvCxnSpPr/>
          <p:nvPr/>
        </p:nvCxnSpPr>
        <p:spPr>
          <a:xfrm>
            <a:off x="407988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EAEAF3">
                <a:alpha val="8078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 txBox="1"/>
          <p:nvPr>
            <p:ph type="ctrTitle"/>
          </p:nvPr>
        </p:nvSpPr>
        <p:spPr>
          <a:xfrm>
            <a:off x="3048000" y="3124200"/>
            <a:ext cx="8229600" cy="18943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" type="subTitle"/>
          </p:nvPr>
        </p:nvSpPr>
        <p:spPr>
          <a:xfrm>
            <a:off x="3048000" y="5003322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rgbClr val="5C7AE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2" type="sldNum"/>
          </p:nvPr>
        </p:nvSpPr>
        <p:spPr>
          <a:xfrm>
            <a:off x="1757363" y="4868863"/>
            <a:ext cx="522287" cy="52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indent="-306324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11684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5C7AE1">
                <a:alpha val="9176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small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09600" y="1600200"/>
            <a:ext cx="99568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471A6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2C1DB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7688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CB3B2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8194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1C0DA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imes New Roman"/>
              <a:buChar char="•"/>
              <a:defRPr b="0" i="0" sz="1400" u="none" cap="small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571A5"/>
              </a:buClr>
              <a:buSzPts val="1400"/>
              <a:buFont typeface="Times New Roman"/>
              <a:buChar char="•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cxnSp>
        <p:nvCxnSpPr>
          <p:cNvPr id="13" name="Google Shape;13;p1"/>
          <p:cNvCxnSpPr/>
          <p:nvPr/>
        </p:nvCxnSpPr>
        <p:spPr>
          <a:xfrm>
            <a:off x="1016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119888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rgbClr val="EAEAF3">
              <a:alpha val="8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1"/>
          <p:cNvCxnSpPr/>
          <p:nvPr/>
        </p:nvCxnSpPr>
        <p:spPr>
          <a:xfrm>
            <a:off x="1188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10960100" y="6073775"/>
            <a:ext cx="550863" cy="55086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" name="Google Shape;1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11583194" y="6133307"/>
            <a:ext cx="920750" cy="2968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ctrTitle"/>
          </p:nvPr>
        </p:nvSpPr>
        <p:spPr>
          <a:xfrm>
            <a:off x="3364700" y="1692263"/>
            <a:ext cx="7429500" cy="6603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4"/>
              <a:buNone/>
            </a:pPr>
            <a:r>
              <a:rPr lang="ru-RU" sz="2800">
                <a:solidFill>
                  <a:srgbClr val="1D2F6A"/>
                </a:solidFill>
              </a:rPr>
              <a:t>Методика обнаружения несанкционированных действий и аномальной активности в корпоративной сети с использованием нейронных сетей</a:t>
            </a:r>
            <a:endParaRPr/>
          </a:p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705713" y="2640025"/>
            <a:ext cx="6749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ru-RU" sz="2800"/>
              <a:t>Научно-исследовательская работа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2662238" y="4221163"/>
            <a:ext cx="4321175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Автор:</a:t>
            </a:r>
            <a:b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ru-RU" sz="22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Титов Дмитрий Иванович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955800" y="101600"/>
            <a:ext cx="1392238" cy="13922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4062D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815977" y="1692275"/>
            <a:ext cx="1671900" cy="158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4062D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2662238" y="5065713"/>
            <a:ext cx="7429500" cy="884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7AE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Ланской  Даниил Петрович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4919663" y="6308725"/>
            <a:ext cx="4319587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9B2"/>
              </a:buClr>
              <a:buSzPts val="1600"/>
              <a:buFont typeface="Noto Sans Symbols"/>
              <a:buNone/>
            </a:pPr>
            <a:r>
              <a:rPr b="0" i="0" lang="ru-RU" sz="20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 202</a:t>
            </a:r>
            <a:r>
              <a:rPr lang="ru-RU" sz="20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ru-RU" sz="20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3496413" y="18950"/>
            <a:ext cx="716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 образования «Национальный исследовательский ядерный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университет «МИФИ»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3496413" y="970038"/>
            <a:ext cx="7166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№42 «Криптология и кибербезопасность»</a:t>
            </a:r>
            <a:endParaRPr b="1" i="0" sz="1600" u="none" cap="none" strike="noStrike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4793456" y="3215481"/>
            <a:ext cx="4319587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9B2"/>
              </a:buClr>
              <a:buSzPts val="112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10.03.01 Информационная безопасность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черный, темнота&#10;&#10;Содержимое, созданное ИИ, может быть неверным.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499" y="464787"/>
            <a:ext cx="1282862" cy="665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темнота, черно-белый&#10;&#10;Содержимое, созданное ИИ, может быть неверным.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2129" y="1975613"/>
            <a:ext cx="1099597" cy="102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Актуальность исследования</a:t>
            </a:r>
            <a:endParaRPr/>
          </a:p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609600" y="1600200"/>
            <a:ext cx="109638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rPr lang="ru-RU" sz="2000">
                <a:solidFill>
                  <a:srgbClr val="1F294A"/>
                </a:solidFill>
              </a:rPr>
              <a:t>Внедрение средств обнаружения и предотвращения вторжений в составе значимых объектов критической информационной инфраструктуры прямо предписано Федеральным законом № 187-ФЗ от 26.07.2017 [1], приказом ФСТЭК России № 239 в редакции 28.08.2024 [2], Указом Президента РФ № 250 от 01.05.2022 [3] и Доктриной информационной безопасности РФ [4].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1F29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Прирост числа DDoS-атак на российскую инфраструктуру за 2025 год составил +42 % по данным Kaspersky DDoS Protection [5]; Solar JSOC фиксирует рост общего числа инцидентов на +27 % за I полугодие 2025 года к 2024-му [6]; по данным Positive Technologies наблюдается смещение векторов атак с сетевого уровня (L3/L4) на прикладной (L7) [7]; НКЦКИ отмечает увеличение доли таргетированных атак на критическую инфраструктуру [8].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1F29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Доля шифрованного трафика в корпоративных сетях превышает 90 %, что ограничивает применимость классического сигнатурного анализа и переносит центр тяжести разработки NIDS на flow-уровневый анализ метаданных потоков (NetFlow [29], IPFIX [30]).</a:t>
            </a:r>
            <a:endParaRPr sz="2000"/>
          </a:p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Цель и задачи исследования</a:t>
            </a:r>
            <a:endParaRPr/>
          </a:p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609600" y="1297675"/>
            <a:ext cx="9956700" cy="5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rPr lang="ru-RU" sz="1800">
                <a:solidFill>
                  <a:schemeClr val="dk1"/>
                </a:solidFill>
              </a:rPr>
              <a:t>Цель работы</a:t>
            </a:r>
            <a:r>
              <a:rPr b="0" lang="ru-RU" sz="1800">
                <a:solidFill>
                  <a:schemeClr val="dk1"/>
                </a:solidFill>
              </a:rPr>
              <a:t> – </a:t>
            </a:r>
            <a:r>
              <a:rPr lang="ru-RU" sz="1800"/>
              <a:t>разработка методики обнаружения аномальной активности и несанкционированных действий в корпоративной сети на основе нейронных сетей, включающей анализ сетевого трафика, классификацию угроз и моделирование атак с помощью программного агента на основе конечного автомата, генерирующего трафик по библиотеке параметризованных шаблонов и выступающего конечной точкой воспроизводимого активного тестирования системы.</a:t>
            </a:r>
            <a:endParaRPr b="0" sz="180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2000"/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ru-RU" sz="1800"/>
              <a:t>	Задачи: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F294A"/>
                </a:solidFill>
              </a:rPr>
              <a:t>—</a:t>
            </a:r>
            <a:r>
              <a:rPr lang="ru-RU" sz="1800">
                <a:solidFill>
                  <a:srgbClr val="1F294A"/>
                </a:solidFill>
              </a:rPr>
              <a:t>  Аналитический обзор предметной области обнаружения аномалий в сетях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</a:t>
            </a:r>
            <a:r>
              <a:rPr lang="ru-RU" sz="1800">
                <a:solidFill>
                  <a:srgbClr val="1F294A"/>
                </a:solidFill>
              </a:rPr>
              <a:t>Формализация функциональных и нефункциональных требований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Проектирование методики и архитектуры нейросетевого детектора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Разработка подсистемы предобработки и формирования выборок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Реализация и обучение нейросетевых моделей в едином регистре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Разработка конечно-автоматного агента активного тестирования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Реализация программного прототипа в реальном времени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Экспериментальная проверка эффективности методики (E1-E6)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—  Оценка эксплуатационных характеристик и оформление материалов</a:t>
            </a:r>
            <a:endParaRPr sz="1800"/>
          </a:p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Объект и предмет исследования</a:t>
            </a:r>
            <a:endParaRPr/>
          </a:p>
        </p:txBody>
      </p:sp>
      <p:sp>
        <p:nvSpPr>
          <p:cNvPr id="88" name="Google Shape;88;p9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-RU"/>
              <a:t>Объект исследования: Методы и технологии обнаружения аномальной активности и несанкционированных действий в корпоративных сетях на основе данных мониторинга, прежде всего телеметрии сетевого трафика. Данные о поведении пользователей рассматриваются в теоретической части как один из возможных источников, в экспериментальной реализации и валидации не используются. </a:t>
            </a:r>
            <a:endParaRPr b="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-RU"/>
              <a:t>Предмет исследования: Применение нейросетевых методов для выявления аномалий и признаков несанкционированной активности по данным сетевого трафика, а также разработка и применение программного агента на основе конечного автомата и библиотеки параметризованных атакующих шаблонов для синтеза трафика и сценариев активного тестирования и валидации системы обнаружения.</a:t>
            </a:r>
            <a:endParaRPr sz="2200"/>
          </a:p>
        </p:txBody>
      </p:sp>
      <p:sp>
        <p:nvSpPr>
          <p:cNvPr id="89" name="Google Shape;89;p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lang="ru-RU" sz="3200"/>
              <a:t>Методология и методы исследования</a:t>
            </a:r>
            <a:endParaRPr/>
          </a:p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609600" y="1161525"/>
            <a:ext cx="9956700" cy="5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Системный анализ предметной области и сравнительный обзор подходов NIDS/NTA по рецензируемым публикациям и нормативным документам РФ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Балльная оценка нейросетевых архитектур и публично доступных датасетов NIDS по литературно обоснованным критериям с весами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Формализация функциональных и нефункциональных требований и количественных критериев качества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Обучение нейросетевых и классических моделей в идентичных условиях; ensemble-усреднение вероятностей по нескольким seed для CNN-LSTM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Калибровка вероятностей через температурное масштабирование (Guo et al. 2017) и порог под целевой FPR=0.01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Стресс-тестирование детектора посредством программного агента на основе конечного автомата с библиотекой параметризованных шаблонов и инжектором дрейфа (PSI/KL/MMD)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Статистический анализ: bootstrap-доверительные интервалы 95%, парный непараметрический критерий Уилкоксона при сравнении моделей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1F294A"/>
                </a:solidFill>
              </a:rPr>
              <a:t>—  Инженерные методы: модульное проектирование, YAML-конфигурация, юнит-тестирование критических инвариантов pipeline</a:t>
            </a:r>
            <a:endParaRPr/>
          </a:p>
        </p:txBody>
      </p:sp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Гипотеза</a:t>
            </a:r>
            <a:endParaRPr sz="3200"/>
          </a:p>
        </p:txBody>
      </p:sp>
      <p:sp>
        <p:nvSpPr>
          <p:cNvPr id="104" name="Google Shape;104;p11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Применение нейронных сетей, обрабатывающих последовательности агрегированных признаков сетевых потоков в скользящих окнах, в сочетании с программным агентом на основе конечного автомата, формирующего воспроизводимые сценарии нормального и атакующего поведения по библиотеке параметризованных шаблонов с контролируемым инжектированием дрейфа распределений, обеспечивает построение методики обнаружения аномальной активности и несанкционированных действий в корпоративной сети, превосходящей классические сигнатурные и статистические подходы по комплексному критерию качества, включающему точность и полноту классификации, частоту ложных срабатываний при заданной полноте, задержку детекции и устойчивость к контролируемому дрейфу распределений.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1. Балльная оценка нейросетевых архитектур</a:t>
            </a:r>
            <a:endParaRPr sz="3200"/>
          </a:p>
        </p:txBody>
      </p:sp>
      <p:sp>
        <p:nvSpPr>
          <p:cNvPr id="112" name="Google Shape;112;p1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3" name="Google Shape;113;p12"/>
          <p:cNvSpPr txBox="1"/>
          <p:nvPr/>
        </p:nvSpPr>
        <p:spPr>
          <a:xfrm>
            <a:off x="426740" y="1351220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1 --- Взвешенная сравнительная оценка девяти нейросетевых архитектур по семи критериям</a:t>
            </a:r>
            <a:endParaRPr/>
          </a:p>
        </p:txBody>
      </p:sp>
      <p:graphicFrame>
        <p:nvGraphicFramePr>
          <p:cNvPr id="114" name="Google Shape;114;p12"/>
          <p:cNvGraphicFramePr/>
          <p:nvPr/>
        </p:nvGraphicFramePr>
        <p:xfrm>
          <a:off x="426665" y="1737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259850"/>
                <a:gridCol w="1259850"/>
                <a:gridCol w="1259850"/>
                <a:gridCol w="1259850"/>
                <a:gridCol w="1259850"/>
                <a:gridCol w="1259850"/>
                <a:gridCol w="1259850"/>
                <a:gridCol w="1259850"/>
                <a:gridCol w="88960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Архитектура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 (0,15)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C2 (0,20)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C3 (0,25)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C4 (0,05)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C5 (0,15)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C6 (0,10)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C7 (0,10)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Балл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[13]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 [12]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[14]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 [16]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3,40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[13, 31]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4,60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Transformer-encoder [15]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3,45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 / VAE [22]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2"/>
          <p:cNvSpPr txBox="1"/>
          <p:nvPr/>
        </p:nvSpPr>
        <p:spPr>
          <a:xfrm>
            <a:off x="548640" y="5760720"/>
            <a:ext cx="11338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Лидер по взвешенной балльной оценке --- CNN-LSTM (4,60) [13, 31]; ближайшие конкуренты: BiLSTM (3,55), Transformer-encoder (3,45).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1. Балльная оценка датасетов NIDS</a:t>
            </a:r>
            <a:endParaRPr sz="3200"/>
          </a:p>
        </p:txBody>
      </p: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548640" y="1417320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2 --- Взвешенная сравнительная оценка десяти публично доступных датасетов NIDS по восьми критериям</a:t>
            </a:r>
            <a:endParaRPr/>
          </a:p>
        </p:txBody>
      </p:sp>
      <p:graphicFrame>
        <p:nvGraphicFramePr>
          <p:cNvPr id="124" name="Google Shape;124;p13"/>
          <p:cNvGraphicFramePr/>
          <p:nvPr/>
        </p:nvGraphicFramePr>
        <p:xfrm>
          <a:off x="462190" y="1759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103450"/>
                <a:gridCol w="1103450"/>
                <a:gridCol w="1103450"/>
                <a:gridCol w="1103450"/>
                <a:gridCol w="1103450"/>
                <a:gridCol w="1103450"/>
                <a:gridCol w="1103450"/>
                <a:gridCol w="1103450"/>
                <a:gridCol w="1103450"/>
                <a:gridCol w="11034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Датасет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Балл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DARPA 1998/1999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KDDCup99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NSL-KDD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2,70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UNSW-NB15 [23]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CICIDS2017 [24, 27]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CSE-CIC-IDS2018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TON-IoT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Bot-IoT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Kyoto 2006+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LITNET-2020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13"/>
          <p:cNvSpPr txBox="1"/>
          <p:nvPr/>
        </p:nvSpPr>
        <p:spPr>
          <a:xfrm>
            <a:off x="548640" y="6027110"/>
            <a:ext cx="11338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Лидер взвешенной балльной оценки --- UNSW-NB15 (4,80) [23]; вспомогательный для cross-evaluation --- CICIDS2017 (3,75) [24, 27].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310190" y="1094195"/>
            <a:ext cx="11338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6B7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Критерии K1-K8 выведены из [25, 26], шкала 1-5, веса согласованы с приоритетами supervised binary-задачи [27].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2. Общая архитектура и подсистемы</a:t>
            </a:r>
            <a:endParaRPr sz="3200"/>
          </a:p>
        </p:txBody>
      </p:sp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548640" y="1026245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3 --- Подсистемы методики обнаружения и их состав</a:t>
            </a:r>
            <a:endParaRPr/>
          </a:p>
        </p:txBody>
      </p:sp>
      <p:graphicFrame>
        <p:nvGraphicFramePr>
          <p:cNvPr id="135" name="Google Shape;135;p14"/>
          <p:cNvGraphicFramePr/>
          <p:nvPr/>
        </p:nvGraphicFramePr>
        <p:xfrm>
          <a:off x="548640" y="1448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2212250"/>
                <a:gridCol w="3893575"/>
                <a:gridCol w="4866975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Подсистема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Назначение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5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Ключевые компоненты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Предобработка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Валидация схемы, нормализация, кодирование, окна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Pydantic-схема, log + robust scaling, one-hot + frequency, W = 32, S = 8 [29, 30]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Детектор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Скоринг окна, калибровка порога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[13, 31], T-scaling (L-BFGS) [19], target-FPR порог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Активное тестирование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Воспроизводимая ground-truth для стресс-теста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FSM (11 состояний) + 7 шаблонов атак + drift-инжектор [28]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Алертирование + drift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Severity, дедупликация, мониторинг распределений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5-уровневая шкала, dedup 5 с, PSI / KL / MMD, alarm &gt; 0,25 [28]</a:t>
                      </a:r>
                      <a:endParaRPr sz="15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4"/>
          <p:cNvSpPr txBox="1"/>
          <p:nvPr/>
        </p:nvSpPr>
        <p:spPr>
          <a:xfrm>
            <a:off x="182890" y="4611650"/>
            <a:ext cx="11338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Pipeline: IPFIX/CSV -&gt; Schema -&gt; Cleanup -&gt; Encoding -&gt; Scaling -&gt; Windowing -&gt; Model -&gt; Threshold -&gt; Alert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26740" y="5004563"/>
            <a:ext cx="113385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5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Параметры: W = 32 flow, S = 8 (75 % перекрытие), стратегия агрегации меток last, focal loss alpha = 0,25, gamma = 2,0 [17], оптимизатор AdamW с cosine annealing [18]. Источники потоков: NetFlow v9 [29], IPFIX [30].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2. Целевая архитектура CNN-LSTM</a:t>
            </a:r>
            <a:endParaRPr sz="3200"/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250690" y="1132045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4 --- Блочная структура нейросетевого детектора CNN-LSTM</a:t>
            </a:r>
            <a:endParaRPr/>
          </a:p>
        </p:txBody>
      </p:sp>
      <p:graphicFrame>
        <p:nvGraphicFramePr>
          <p:cNvPr id="146" name="Google Shape;146;p15"/>
          <p:cNvGraphicFramePr/>
          <p:nvPr/>
        </p:nvGraphicFramePr>
        <p:xfrm>
          <a:off x="250690" y="154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828800"/>
                <a:gridCol w="3657600"/>
                <a:gridCol w="4389125"/>
                <a:gridCol w="14630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Блок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Преобразование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Роль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Обоснование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Conv1D #1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x W x F  -&gt;  B x W/2 x C1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Локальные паттерны flow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[12, 13]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Conv1D #2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x W/2 x C1  -&gt;  B x W/4 x C2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Иерархия признаков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[12]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x W/4 x C2  -&gt;  B x W/4 x 2H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Двунаправленные временные зависимости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[11, 14]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 pool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x W/4 x 2H  -&gt;  B x 2H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Взвешенная агрегация по времени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[15]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LayerNorm + MLP head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x 2H  -&gt;  B x 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Снятие scale drift; бинарная классификация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[13, 31]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5"/>
          <p:cNvSpPr txBox="1"/>
          <p:nvPr/>
        </p:nvSpPr>
        <p:spPr>
          <a:xfrm>
            <a:off x="250690" y="4743925"/>
            <a:ext cx="11338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Усиления относительно базовой CNN-LSTM: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250690" y="5109685"/>
            <a:ext cx="113385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 двунаправленный LSTM по умолчанию --- стандарт публикаций NIDS 2024-2025 [31]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 attention-пулинг вместо последнего скрытого состояния [15]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 LayerNorm перед head для снятия scale drift между Conv и LSTM [13]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2. Конечно-автоматный агент активного тестирования</a:t>
            </a:r>
            <a:endParaRPr sz="3200"/>
          </a:p>
        </p:txBody>
      </p:sp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244515" y="1417645"/>
            <a:ext cx="11338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состояний FSM:  NORMAL  +  7 ATTACK  +  3 DRIFT [28]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244515" y="1829125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5 --- Библиотека параметризованных шаблонов атак агента</a:t>
            </a:r>
            <a:endParaRPr/>
          </a:p>
        </p:txBody>
      </p:sp>
      <p:graphicFrame>
        <p:nvGraphicFramePr>
          <p:cNvPr id="158" name="Google Shape;158;p16"/>
          <p:cNvGraphicFramePr/>
          <p:nvPr/>
        </p:nvGraphicFramePr>
        <p:xfrm>
          <a:off x="244515" y="2240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2377450"/>
                <a:gridCol w="2743200"/>
                <a:gridCol w="6217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Шаблон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UNSW [23]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Характерные признаки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ddos_synflood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Высокая скорость, доминирование SYN, малые sbytes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port_scan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Малые dur, фан-аут на портах, малый dbytes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brute_force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 / Exploits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Повторяющиеся короткие сессии на одном порту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exploit_payload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Большие sbytes, аномальные сочетания TCP-флагов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data_exfil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Backdoors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Длинные сессии, асимметрия b_out/b_in, стабильная скорость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internal_recon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Внутренние IP-источники, фан-аут по dst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worm_lateral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Веерное распространение по портам и хостам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6"/>
          <p:cNvSpPr txBox="1"/>
          <p:nvPr/>
        </p:nvSpPr>
        <p:spPr>
          <a:xfrm>
            <a:off x="244515" y="5623885"/>
            <a:ext cx="1133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Инжектор дрейфа [28]: covariate (сдвиг масштаба и шума), prior (изменение долей классов), concept (маскирование сигнатурных признаков). Интенсивность alpha в {0; 0,25; 0,5; 0,75; 1,0}.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621550" y="63063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3. Стек ML/DL: обоснование выбора</a:t>
            </a:r>
            <a:endParaRPr sz="3200"/>
          </a:p>
        </p:txBody>
      </p:sp>
      <p:sp>
        <p:nvSpPr>
          <p:cNvPr id="166" name="Google Shape;166;p1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40960" y="823370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6 --- Сравнительный анализ компонентов научного ядра прототипа</a:t>
            </a:r>
            <a:endParaRPr/>
          </a:p>
        </p:txBody>
      </p:sp>
      <p:graphicFrame>
        <p:nvGraphicFramePr>
          <p:cNvPr id="168" name="Google Shape;168;p17"/>
          <p:cNvGraphicFramePr/>
          <p:nvPr/>
        </p:nvGraphicFramePr>
        <p:xfrm>
          <a:off x="236505" y="1127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529450"/>
                <a:gridCol w="1699375"/>
                <a:gridCol w="1699375"/>
                <a:gridCol w="5268075"/>
                <a:gridCol w="934675"/>
              </a:tblGrid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Компонент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Выбор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Альтернативы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Ключевой довод выбора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Источник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DL-фреймворк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PyTorch 2.x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(CPU-сборка)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TensorFlow / Keras, JAX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Динамический вычислительный граф; доминирующий стандарт в рецензируемых публикациях по NIDS 2023-2025; нативная поддержка LSTM с batch-first; CPU-сборка укладывается в NFR-3 (1,16 мс на окно)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[33]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Классические модели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scikit-learn 1.x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XGBoost 2.x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LightGBM, CatBoost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scikit-learn --- эталонная реализация ML с воспроизводимыми результатами и единым API; XGBoost --- лидер по F1 среди gradient-boosting на UNSW-NB15 и CICIDS2017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[21, 34]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baselines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Isolation Forest,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OC-SVM, AE, VAE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DeepSVDD, GAN-AD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Isolation Forest [20] --- эталонный метод outlier detection; VAE [22] --- генеративный baseline; AE --- классика для anomaly detection в NIDS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[20, 22]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Функция потерь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Focal loss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alpha = 0,25, gamma = 2,0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BCE, weighted CE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Снижает влияние easy-negatives на градиент; обоснованно применима при imbalance 13:87 (UNSW-NB15)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[17]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Оптимизатор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cosine annealing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SGD, Adam, RMSprop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Корректное weight decay через decoupled regularization; cosine annealing стабильнее ступенчатого LR-decay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[18]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70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Калибровка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Temperature scaling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(L-BFGS)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Platt scaling,</a:t>
                      </a:r>
                      <a:b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Isotonic regression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Сохраняет ranking AUC; единственная скалярная переменная T; снижение ECE на 67 % в эксперименте E3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[19]</a:t>
                      </a:r>
                      <a:endParaRPr sz="12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3. Инженерная обвязка: обоснование выбора</a:t>
            </a:r>
            <a:endParaRPr sz="3200"/>
          </a:p>
        </p:txBody>
      </p: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289510" y="1184920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7 --- Сравнительный анализ компонентов программной обвязки прототипа</a:t>
            </a:r>
            <a:endParaRPr/>
          </a:p>
        </p:txBody>
      </p:sp>
      <p:graphicFrame>
        <p:nvGraphicFramePr>
          <p:cNvPr id="177" name="Google Shape;177;p18"/>
          <p:cNvGraphicFramePr/>
          <p:nvPr/>
        </p:nvGraphicFramePr>
        <p:xfrm>
          <a:off x="289510" y="1596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607025"/>
                <a:gridCol w="1964150"/>
                <a:gridCol w="2232000"/>
                <a:gridCol w="5535325"/>
              </a:tblGrid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Компонент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Выбор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Альтернативы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Ключевой довод выбора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Валидация конфигов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Pydantic v2</a:t>
                      </a:r>
                      <a:b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PyYAML 6.x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marshmallow, attrs, dataclasses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Декларативная типизация с runtime-проверками; экспорт в JSON Schema; минимум boilerplate; стандарт de-facto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REST-сервис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FastAPI + uvicorn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Flask, Django REST,</a:t>
                      </a:r>
                      <a:b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aiohttp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ASGI с async/await; автоматическая генерация OpenAPI; встроенная валидация request/response через Pydantic; низкая latency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UI / дэшборд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Streamlit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 / Plotly,</a:t>
                      </a:r>
                      <a:b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Gradio, Jupyter widgets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Минимум кода для оперативного дэшборда; нативная поддержка pandas и matplotlib; production-ready hot-reload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Тестирование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pytest 8.x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unittest, nose2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Фикстуры с разными scope; параметризация; обширная экосистема плагинов; 86 проходящих тестов в 11 модулях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Сборка артефактов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+ YAML</a:t>
                      </a:r>
                      <a:b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scripts/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Hydra, Snakemake,</a:t>
                      </a:r>
                      <a:b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Bash, Invoke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Стандарт Unix-сборок; простая воспроизводимость без дополнительных зависимостей; YAML-конфиги для каждого эксперимента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Логирование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logging (stdlib)</a:t>
                      </a:r>
                      <a:b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JSONL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loguru, structlog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внешних зависимостей; единый JSON Lines-формат для интеграции с SIEM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8"/>
          <p:cNvSpPr txBox="1"/>
          <p:nvPr/>
        </p:nvSpPr>
        <p:spPr>
          <a:xfrm>
            <a:off x="472390" y="6122680"/>
            <a:ext cx="11338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6B7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Эталонная конфигурация: AMD Ryzen 7 5800X, 32 ГБ RAM, Windows 11, Python 3.13.11. GPU не требуется.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3. 15 моделей в едином регистре</a:t>
            </a:r>
            <a:endParaRPr sz="3200"/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231290" y="1132020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8 --- Состав регистра моделей программного прототипа</a:t>
            </a:r>
            <a:endParaRPr/>
          </a:p>
        </p:txBody>
      </p:sp>
      <p:graphicFrame>
        <p:nvGraphicFramePr>
          <p:cNvPr id="187" name="Google Shape;187;p19"/>
          <p:cNvGraphicFramePr/>
          <p:nvPr/>
        </p:nvGraphicFramePr>
        <p:xfrm>
          <a:off x="231290" y="154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2672825"/>
                <a:gridCol w="4900150"/>
                <a:gridCol w="3474650"/>
              </a:tblGrid>
              <a:tr h="96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Семейство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Назначение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121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Глубокое обучение (10)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[13], 1D-CNN [12], LSTM [14], GRU [11], BiLSTM [11], CNN-LSTM [13, 31], TCN [16], Transformer-encoder [15], Autoencoder, VAE [22]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Полное покрытие архитектур из теоретического анализа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119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Классические (5)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Regression, Random Forest, XGBoost [21], Isolation Forest [20], OC-SVM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Контрольные baselines и unsupervised режим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Эксперимент E1. Сравнение 15 моделей на UNSW-NB15</a:t>
            </a:r>
            <a:endParaRPr sz="3200"/>
          </a:p>
        </p:txBody>
      </p:sp>
      <p:sp>
        <p:nvSpPr>
          <p:cNvPr id="194" name="Google Shape;194;p2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96935" y="1326720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9 --- Сводные метрики качества по результатам эксперимента E1 (топ-10 моделей)</a:t>
            </a:r>
            <a:endParaRPr/>
          </a:p>
        </p:txBody>
      </p:sp>
      <p:graphicFrame>
        <p:nvGraphicFramePr>
          <p:cNvPr id="196" name="Google Shape;196;p20"/>
          <p:cNvGraphicFramePr/>
          <p:nvPr/>
        </p:nvGraphicFramePr>
        <p:xfrm>
          <a:off x="297260" y="16036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383825"/>
                <a:gridCol w="1383825"/>
                <a:gridCol w="1383825"/>
                <a:gridCol w="1383825"/>
                <a:gridCol w="1383825"/>
                <a:gridCol w="1383825"/>
                <a:gridCol w="1383825"/>
                <a:gridCol w="1383825"/>
              </a:tblGrid>
              <a:tr h="324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F1-max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ROC-AUC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Op. F1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Op. FPR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(proposed) [13, 31]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0,9945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0,9923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0,9712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0,0095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 [21]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0,9651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0,9870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0,108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0,9623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0,9922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0,9853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0,9894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0,9785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0,9347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[13]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0,9878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0,9770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0,9144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[15]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0,9543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0,9829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0,9683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0,9868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 [16]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0,9508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0,9708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0,8519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0,9507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0,9523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0,9476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0,084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[14]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0,9483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0,9876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Эксперимент E1. Ранжирование моделей по F1-max</a:t>
            </a:r>
            <a:endParaRPr sz="3200"/>
          </a:p>
        </p:txBody>
      </p:sp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E1_model_ranking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6850" y="900974"/>
            <a:ext cx="7866625" cy="519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48650" y="1494275"/>
            <a:ext cx="29292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(proposed) лидирует по F1-max (0,9735) среди 15 моделей [13, 31]; проигрывает только по latency и throughput (архитектурное ограничение LSTM [14] на CPU).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Эксперимент E2. Анализ ошибок CNN-LSTM</a:t>
            </a:r>
            <a:endParaRPr sz="3200"/>
          </a:p>
        </p:txBody>
      </p:sp>
      <p:sp>
        <p:nvSpPr>
          <p:cNvPr id="212" name="Google Shape;212;p2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E2_confusion_matrix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15" y="1098390"/>
            <a:ext cx="5029200" cy="40464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2_per_attack_recall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7875" y="1177740"/>
            <a:ext cx="6126480" cy="302134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3365247" y="5144875"/>
            <a:ext cx="80334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операционном пороге t = 0,46 [19]: Precision = 0,9954, Recall = 0,948, F1 = 0,9712, FPR = 0,0094. Все 9 классов атак UNSW-NB15 [23] показывают recall &gt;= 0,84; класс Generic --- 1,000.</a:t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Эксперимент E3. Калибровка вероятностей и порога</a:t>
            </a:r>
            <a:endParaRPr sz="3200"/>
          </a:p>
        </p:txBody>
      </p:sp>
      <p:sp>
        <p:nvSpPr>
          <p:cNvPr id="222" name="Google Shape;222;p2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220310" y="1417645"/>
            <a:ext cx="11613000" cy="257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Температурное масштабирование [19]: p_hat = sigmoid(z / T); порог tau калиброван под target-FPR = 0,01 на val.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20310" y="1829125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10 --- Результаты калибровки вероятностей и порога для восьми DL-моделей</a:t>
            </a:r>
            <a:endParaRPr/>
          </a:p>
        </p:txBody>
      </p:sp>
      <p:graphicFrame>
        <p:nvGraphicFramePr>
          <p:cNvPr id="225" name="Google Shape;225;p23"/>
          <p:cNvGraphicFramePr/>
          <p:nvPr/>
        </p:nvGraphicFramePr>
        <p:xfrm>
          <a:off x="220310" y="2240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1409550"/>
                <a:gridCol w="1409550"/>
                <a:gridCol w="1409550"/>
                <a:gridCol w="1409550"/>
                <a:gridCol w="1409550"/>
                <a:gridCol w="1409550"/>
                <a:gridCol w="1409550"/>
                <a:gridCol w="1409550"/>
              </a:tblGrid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tau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ECE до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ECE после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ΔECE, 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FPR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F1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[13]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1,418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0,460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0,088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67,1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0,0095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0,9712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0,251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0,374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0,9347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[14]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0,378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0,267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[13]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0,429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0,474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0,449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0,9144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0,395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0,776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0,454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0,8848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 [12]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0,258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0,645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0,532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0,463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0,8791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[15]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0,398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0,423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-5,5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0,8744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 [16]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0,313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0,431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0,8519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3"/>
          <p:cNvSpPr txBox="1"/>
          <p:nvPr/>
        </p:nvSpPr>
        <p:spPr>
          <a:xfrm>
            <a:off x="403190" y="6081085"/>
            <a:ext cx="11338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показывает наибольшее снижение ECE (67,1 %) и единственная удовлетворяет NFR-2 (FPR &lt;= 0,01 при Recall &gt;= 0,85).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Эксперимент E4. Стресс-тест с FSM-агентом</a:t>
            </a:r>
            <a:endParaRPr sz="3200"/>
          </a:p>
        </p:txBody>
      </p:sp>
      <p:sp>
        <p:nvSpPr>
          <p:cNvPr id="233" name="Google Shape;233;p2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7910005" y="1426908"/>
            <a:ext cx="365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11 --- Сводные метрики E4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813122" y="5378350"/>
            <a:ext cx="82581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7 ATTACK-состояний дают recall &gt;= 0,88, 6 из 7 &gt;= 0,90. На NORMAL/DRIFT FPR &lt;= 0,030. Общий уровень E4 (F1 = 0,958) находится между E1 in-domain и E5 при alpha = 0,5, что подтверждает корректность работы pipeline в потоковом режиме [23, 24].</a:t>
            </a:r>
            <a:endParaRPr sz="1600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245763"/>
            <a:ext cx="7048232" cy="36559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24"/>
          <p:cNvGraphicFramePr/>
          <p:nvPr/>
        </p:nvGraphicFramePr>
        <p:xfrm>
          <a:off x="8000488" y="182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{69A10387-634E-4E8E-A4D1-F7D0370AEC05}</a:tableStyleId>
              </a:tblPr>
              <a:tblGrid>
                <a:gridCol w="1752600"/>
                <a:gridCol w="1724025"/>
              </a:tblGrid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Показатель</a:t>
                      </a:r>
                      <a:endParaRPr b="1" sz="12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Значение</a:t>
                      </a:r>
                      <a:endParaRPr b="1" sz="12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Окон / атак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2497 / 1256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0,958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0,975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0,942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0,024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MCC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0,921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0,979</a:t>
                      </a:r>
                      <a:endParaRPr sz="12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type="title"/>
          </p:nvPr>
        </p:nvSpPr>
        <p:spPr>
          <a:xfrm>
            <a:off x="596375" y="1688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Эксперимент E5. Устойчивость к контролируемому</a:t>
            </a:r>
            <a:endParaRPr sz="3200"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519323" y="5747325"/>
            <a:ext cx="96363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300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(alpha = 0): F1 = 0,9735 при PSI = 0,21. При максимальной интенсивности alpha = 1,0 ΔF1 = 0,082 (covariate) и 0,066 (concept) [28]; модель сохраняет F1 &gt;= 0,89 при всех уровнях дрейфа. drift_alarm срабатывает на 8 из 8 нетривиальных точек (PSI &gt; 0,25). NFR-6 выполнено.</a:t>
            </a:r>
            <a:endParaRPr b="1" sz="1300">
              <a:solidFill>
                <a:srgbClr val="4F6E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F6E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50" y="1201126"/>
            <a:ext cx="10974400" cy="4455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Этап 4. E6 - производительность; cross-evaluation</a:t>
            </a:r>
            <a:endParaRPr sz="3200"/>
          </a:p>
        </p:txBody>
      </p:sp>
      <p:sp>
        <p:nvSpPr>
          <p:cNvPr id="253" name="Google Shape;253;p26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180635" y="1251045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12 --- Эксплуатационные характеристики моделей (CPU, batch = 1)</a:t>
            </a:r>
            <a:endParaRPr/>
          </a:p>
        </p:txBody>
      </p:sp>
      <p:graphicFrame>
        <p:nvGraphicFramePr>
          <p:cNvPr id="255" name="Google Shape;255;p26"/>
          <p:cNvGraphicFramePr/>
          <p:nvPr/>
        </p:nvGraphicFramePr>
        <p:xfrm>
          <a:off x="180635" y="16168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2126875"/>
                <a:gridCol w="2126875"/>
                <a:gridCol w="2126875"/>
                <a:gridCol w="2126875"/>
                <a:gridCol w="2126875"/>
              </a:tblGrid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Latency, мс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Throughput, EPS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NFR-3 (&lt;=50 мс)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NFR-4 (&gt;=1000 EPS)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[13]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131989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 [21]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68385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(proposed) [31]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24560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[15]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22960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[11]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42,66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26"/>
          <p:cNvSpPr txBox="1"/>
          <p:nvPr/>
        </p:nvSpPr>
        <p:spPr>
          <a:xfrm>
            <a:off x="180635" y="3948525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13 --- Метрики cross-evaluation UNSW-NB15 -&gt; CICIDS2017 [23, 24, 32]</a:t>
            </a:r>
            <a:endParaRPr/>
          </a:p>
        </p:txBody>
      </p:sp>
      <p:graphicFrame>
        <p:nvGraphicFramePr>
          <p:cNvPr id="257" name="Google Shape;257;p26"/>
          <p:cNvGraphicFramePr/>
          <p:nvPr/>
        </p:nvGraphicFramePr>
        <p:xfrm>
          <a:off x="180635" y="43142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{69A10387-634E-4E8E-A4D1-F7D0370AEC05}</a:tableStyleId>
              </a:tblPr>
              <a:tblGrid>
                <a:gridCol w="3461900"/>
                <a:gridCol w="3461900"/>
                <a:gridCol w="34619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Показатель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UNSW (in-domain) [23]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CICIDS (cross) [24, 27]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F1-max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</a:t>
                      </a:r>
                      <a:r>
                        <a:rPr lang="ru-RU" sz="11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0,7945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на UNSW-калиброванном пороге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0,7679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F1 (transfer)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0,181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NFR-7 (Δ F1 &lt;= 0,20)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Соответствие нефункциональным требованиям</a:t>
            </a:r>
            <a:endParaRPr sz="3200"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226125" y="1058050"/>
            <a:ext cx="9956700" cy="26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1F294A"/>
                </a:solidFill>
              </a:rPr>
              <a:t>Таблица 14 --- Сводная таблица выполнения нефункциональных требований целевой моделью CNN-LSTM</a:t>
            </a:r>
            <a:endParaRPr/>
          </a:p>
        </p:txBody>
      </p:sp>
      <p:sp>
        <p:nvSpPr>
          <p:cNvPr id="265" name="Google Shape;265;p2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266" name="Google Shape;266;p27"/>
          <p:cNvGraphicFramePr/>
          <p:nvPr/>
        </p:nvGraphicFramePr>
        <p:xfrm>
          <a:off x="226125" y="141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{69A10387-634E-4E8E-A4D1-F7D0370AEC05}</a:tableStyleId>
              </a:tblPr>
              <a:tblGrid>
                <a:gridCol w="2218975"/>
                <a:gridCol w="2320675"/>
                <a:gridCol w="2228225"/>
                <a:gridCol w="2246725"/>
                <a:gridCol w="2255975"/>
              </a:tblGrid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3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Требование</a:t>
                      </a:r>
                      <a:endParaRPr b="1" sz="13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Порог</a:t>
                      </a:r>
                      <a:endParaRPr b="1" sz="13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 CNN-LSTM</a:t>
                      </a:r>
                      <a:endParaRPr b="1" sz="13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300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Статус</a:t>
                      </a:r>
                      <a:endParaRPr b="1" sz="1300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NFR-1a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на UNSW-NB15 [23]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 0,90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0,9735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NFR-1b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 на UNSW-NB15 [23]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 0,95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0,9945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NFR-2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 при Recall &gt;= 0,85 [19]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0,01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0,0095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NFR-3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 (batch = 1)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50 мс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1,16 мс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NFR-4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(batch)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 1000 EPS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24560 EPS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NFR-5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Time-to-detect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1 окно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per-state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NFR-6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ΔF1 при PSI &lt;= 0,25 [28]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0,10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0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NFR-7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ΔF1 cross-eval UNSW-&gt;CICIDS [32]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0,20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0,181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NFR-8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Воспроизводимость одной командой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reproduce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NFR-9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σ F1 по seed (n&gt;=3)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0,01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0,0014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300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7"/>
          <p:cNvSpPr txBox="1"/>
          <p:nvPr/>
        </p:nvSpPr>
        <p:spPr>
          <a:xfrm>
            <a:off x="476925" y="6400800"/>
            <a:ext cx="97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Выполнены все 10 нефункциональных требований. Все 9 задач исходной постановки ВКР реализованы.</a:t>
            </a:r>
            <a:endParaRPr b="1">
              <a:solidFill>
                <a:srgbClr val="4F6E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Разработанная методика обнаружения (10 шагов</a:t>
            </a:r>
            <a:r>
              <a:rPr lang="ru-RU"/>
              <a:t>)</a:t>
            </a:r>
            <a:endParaRPr/>
          </a:p>
        </p:txBody>
      </p:sp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503800" y="1219025"/>
            <a:ext cx="9956700" cy="530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Сбор и валидация входной телеметрии (CSV, NetFlow v9 [29], IPFIX [30]) по Pydantic-схеме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Очистка и нормализация: log1p + robust scaling, обрезка квантилей 0,001 / 0,999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Кодирование категориальных признаков: one-hot для малой кардинальности, frequency-encoding для большой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Формирование скользящих окон W = 32, S = 8 (75 % перекрытие), last-агрегация меток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Нейросетевой инференс: CNN-LSTM (Conv1D x2 + BiLSTM + Attention pool + LayerNorm) [13, 31]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Калибровка вероятностей (T-scaling) [19] и порога tau под target-FPR = 0,01 на val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Принятие решения y_hat = I[p &gt;= tau]; формирование скоринга по окну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Формирование алертов: severity по нормированному превышению порога и временная дедупликация 5 с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Мониторинг дрейфа: PSI / KL / MMD относительно эталонной выборки [28]; drift_alarm при PSI &gt; 0,21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900"/>
              <a:t>—  Экспорт алертов в JSON Lines, REST-API, Streamlit-дэшборд для интеграции в SOC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75" name="Google Shape;275;p2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Результаты работы</a:t>
            </a:r>
            <a:endParaRPr sz="3200"/>
          </a:p>
        </p:txBody>
      </p:sp>
      <p:sp>
        <p:nvSpPr>
          <p:cNvPr id="282" name="Google Shape;282;p29"/>
          <p:cNvSpPr txBox="1"/>
          <p:nvPr>
            <p:ph idx="1" type="body"/>
          </p:nvPr>
        </p:nvSpPr>
        <p:spPr>
          <a:xfrm>
            <a:off x="609600" y="1219025"/>
            <a:ext cx="9956700" cy="532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Реализована полная методика обнаружения аномальной активности в корпоративной сети на основе нейронных сетей (10 формализованных шагов) с воспроизводимым активным тестированием посредством конечно-автоматного агента [28].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Программный прототип diploma_nids.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Целевая модель CNN-LSTM [13, 31] лидирует по 7 основным метрикам качества из 10 (F1 = 0,9735; PR-AUC = 0,9945; MCC = 0,918; Recall = 0,985; Op. FPR = 0,0095). Statistical std по 3 seed: 0,0014.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Per-state recall измерен для 11 состояний FSM-агента; все 7 ATTACK-состояний дают recall &gt;= 0,73. Drift-monitor корректно срабатывает при PSI &gt; 0,25 [28].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Cross-evaluation UNSW -&gt; CICIDS [32]: ΔF1 = 0,181 (NFR-7 выполнено). Inference 1,16 мс/окно, throughput 24560 EPS.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Сравнение с лидером классических подходов (XGBoost [21]): CNN-LSTM обеспечивает в 11 раз меньше ложных срабатываний на типовом потоке корпоративного SOC (Op. FPR 0,0095 против 0,108) при сопоставимом F1.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800"/>
              <a:t>—  Гипотеза исследования подтверждена; цель работы достигнута; все 10 нефункциональных требований и требования нормативной базы [1, 2] выполнены.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3" name="Google Shape;283;p2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Источники (1)</a:t>
            </a:r>
            <a:endParaRPr sz="3200"/>
          </a:p>
        </p:txBody>
      </p:sp>
      <p:sp>
        <p:nvSpPr>
          <p:cNvPr id="290" name="Google Shape;290;p30"/>
          <p:cNvSpPr txBox="1"/>
          <p:nvPr>
            <p:ph idx="1" type="body"/>
          </p:nvPr>
        </p:nvSpPr>
        <p:spPr>
          <a:xfrm>
            <a:off x="609600" y="1219025"/>
            <a:ext cx="9956700" cy="539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1. О безопасности критической информационной инфраструктуры Российской Федерации : Федер. закон от 26.07.2017 № 187-ФЗ // КонсультантПлюс : справ.-правовая система. --- URL: http://www.consultant.ru/document/cons_doc_LAW_220885/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2. Об утверждении Требований по обеспечению безопасности значимых объектов критической информационной инфраструктуры Российской Федерации : приказ ФСТЭК России от 25.12.2017 № 239 (в ред. от 28.08.2024) // ФСТЭК России : офиц. сайт. --- URL: https://fstec.ru/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3. О дополнительных мерах по обеспечению информационной безопасности Российской Федерации : Указ Президента РФ от 01.05.2022 № 250 // Президент России : офиц. сайт. --- URL: http://www.kremlin.ru/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4. Доктрина информационной безопасности Российской Федерации : утв. Указом Президента РФ от 05.12.2016 № 646. --- Москва, 2016.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5. Kaspersky DDoS Attacks Report 2025 : аналит. отчет / Kaspersky Lab. --- URL: https://securelist.com/ddos-report-2025/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6. Solar JSOC Security Report 2025 : аналит. отчет / ГК &lt;&lt;РТК-Solar&gt;&gt;. --- Москва, 2025. --- URL: https://rt-solar.ru/analytics/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7. Актуальные киберугрозы 2025 : аналит. отчет / Positive Technologies. --- Москва, 2025. --- URL: https://www.ptsecurity.com/ru-ru/research/analytics/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8. Бюллетень НКЦКИ за 2025 год / Национальный координационный центр по компьютерным инцидентам. --- URL: https://safe-surf.ru/ (дата обращения: 22.05.2026).</a:t>
            </a:r>
            <a:endParaRPr sz="16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600">
                <a:solidFill>
                  <a:srgbClr val="1F294A"/>
                </a:solidFill>
              </a:rPr>
              <a:t>9. ГОСТ 7.32-2017. Отчет о научно-исследовательской работе. Структура и правила оформления. --- Введ. 2018-07-01. --- Москва : Стандартинформ, 2017. --- 32 с.</a:t>
            </a:r>
            <a:endParaRPr sz="1600"/>
          </a:p>
        </p:txBody>
      </p:sp>
      <p:sp>
        <p:nvSpPr>
          <p:cNvPr id="291" name="Google Shape;291;p3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Источники (2)</a:t>
            </a:r>
            <a:endParaRPr sz="3200"/>
          </a:p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10. Khraisat A. Survey of intrusion detection systems: techniques, datasets and challenges / A. Khraisat, I. Gondal, P. Vamplew, J. Kamruzzaman // Cybersecurity. --- 2019. --- Vol. 2, № 1. --- P. 1-22.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11. Ahmad Z. Network intrusion detection system: A systematic study of machine learning and deep learning approaches / Z. Ahmad, A. Shahid Khan, C. Wai Shiang, J. Abdullah, F. Ahmad // Transactions on Emerging Telecommunications Technologies. --- 2021. --- Vol. 32, № 1. --- P. e4150.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12. Ferrag M. A. Deep learning for cyber security intrusion detection: Approaches, datasets, and comparative study / M. A. Ferrag [et al.] // Journal of Information Security and Applications. --- 2020. --- Vol. 50. --- P. 102419.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13. Vinayakumar R. Deep learning approach for intelligent intrusion detection system / R. Vinayakumar [et al.] // IEEE Access. --- 2019. --- Vol. 7. --- P. 41525-41550.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14. Hochreiter S. Long Short-Term Memory / S. Hochreiter, J. Schmidhuber // Neural Computation. --- 1997. --- Vol. 9, № 8. --- P. 1735-1780.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15. Vaswani A. Attention is all you need / A. Vaswani [et al.] // Advances in Neural Information Processing Systems (NeurIPS). --- 2017. --- P. 5998-6008.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16. Bai S. An empirical evaluation of generic convolutional and recurrent networks for sequence modeling / S. Bai, J. Z. Kolter, V. Koltun. --- arXiv:1803.01271. --- 2018.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17. Lin T.-Y. Focal loss for dense object detection / T.-Y. Lin [et al.] // Proc. IEEE Int. Conf. on Computer Vision (ICCV). --- 2017. --- P. 2980-2988.</a:t>
            </a:r>
            <a:endParaRPr sz="1700"/>
          </a:p>
        </p:txBody>
      </p:sp>
      <p:sp>
        <p:nvSpPr>
          <p:cNvPr id="299" name="Google Shape;299;p3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Источники (3)</a:t>
            </a:r>
            <a:endParaRPr/>
          </a:p>
        </p:txBody>
      </p:sp>
      <p:sp>
        <p:nvSpPr>
          <p:cNvPr id="306" name="Google Shape;306;p32"/>
          <p:cNvSpPr txBox="1"/>
          <p:nvPr>
            <p:ph idx="1" type="body"/>
          </p:nvPr>
        </p:nvSpPr>
        <p:spPr>
          <a:xfrm>
            <a:off x="609600" y="1203325"/>
            <a:ext cx="9956700" cy="550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18. Loshchilov I. Decoupled weight decay regularization / I. Loshchilov, F. Hutter // Int. Conf. on Learning Representations (ICLR). --- 2019.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19. Guo C. On calibration of modern neural networks / C. Guo [et al.] // Proc. Int. Conf. on Machine Learning (ICML). --- 2017. --- P. 1321-1330.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20. Liu F. T. Isolation forest / F. T. Liu, K. M. Ting, Z.-H. Zhou // Proc. IEEE Int. Conf. on Data Mining (ICDM). --- 2008. --- P. 413-422.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21. Chen T. XGBoost: A scalable tree boosting system / T. Chen, C. Guestrin // Proc. 22nd ACM SIGKDD Conf. on Knowledge Discovery and Data Mining (KDD). --- 2016. --- P. 785-794.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22. Kingma D. P. Auto-encoding variational Bayes / D. P. Kingma, M. Welling // Int. Conf. on Learning Representations (ICLR). --- 2014.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23. Moustafa N. UNSW-NB15: A comprehensive data set for network intrusion detection systems / N. Moustafa, J. Slay // Proc. IEEE Military Communications and Information Systems Conf. (MilCIS). --- 2015. --- P. 1-6.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24. Sharafaldin I. Toward generating a new intrusion detection dataset and intrusion traffic characterization / I. Sharafaldin, A. Habibi Lashkari, A. A. Ghorbani // Proc. 4th Int. Conf. on Information Systems Security and Privacy (ICISSP). --- 2018. --- P. 108-116.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25. Gharib A. An evaluation framework for intrusion detection dataset / A. Gharib, I. Sharafaldin, A. H. Lashkari, A. A. Ghorbani // Proc. IEEE Int. Conf. on Information Science and Security (ICISS). --- 2016.</a:t>
            </a:r>
            <a:endParaRPr sz="17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700">
                <a:solidFill>
                  <a:srgbClr val="1F294A"/>
                </a:solidFill>
              </a:rPr>
              <a:t>26. Ring M. A survey of network-based intrusion detection data sets / M. Ring, S. Wunderlich, D. Scheuring, D. Landes, A. Hotho // Computers &amp; Security. --- 2019. --- Vol. 86. --- P. 147-167.</a:t>
            </a:r>
            <a:endParaRPr sz="1700"/>
          </a:p>
        </p:txBody>
      </p:sp>
      <p:sp>
        <p:nvSpPr>
          <p:cNvPr id="307" name="Google Shape;307;p3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Источники (4)</a:t>
            </a:r>
            <a:endParaRPr/>
          </a:p>
        </p:txBody>
      </p:sp>
      <p:sp>
        <p:nvSpPr>
          <p:cNvPr id="314" name="Google Shape;314;p33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27. Engelen G. Troubleshooting an intrusion detection dataset: the CICIDS2017 case study / G. Engelen, V. Rimmer, W. Joosen // Proc. IEEE Security and Privacy Workshops (SPW). --- 2021. --- P. 7-12.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28. Gama J. A survey on concept drift adaptation / J. Gama [et al.] // ACM Computing Surveys. --- 2014. --- Vol. 46, № 4. --- P. 44:1-44:37.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29. Claise B. Cisco Systems NetFlow Services Export Version 9 : RFC 3954 / B. Claise ; IETF. --- 2004. --- 33 p.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30. Specification of the IP Flow Information Export (IPFIX) Protocol for the Exchange of Flow Information : RFC 7011 / B. Claise, B. Trammell, P. Aitken ; IETF. --- 2013. --- 76 p.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31. Enhanced network intrusion detection using a hybrid CNN-LSTM approach on UNSW-NB15 // IEEE Transactions. --- 2024.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32. Farooq M. A detailed analysis of benchmark datasets for network intrusion detection system / M. Farooq [et al.]. --- arXiv:2403.17458. --- 2024.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33. Paszke A. PyTorch: An imperative style, high-performance deep learning library / A. Paszke [et al.] // Advances in Neural Information Processing Systems (NeurIPS). --- 2019. --- P. 8024-8035.</a:t>
            </a:r>
            <a:endParaRPr sz="18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34. Pedregosa F. Scikit-learn: Machine learning in Python / F. Pedregosa [et al.] // Journal of Machine Learning Research. --- 2011. --- Vol. 12. --- P. 2825-2830.</a:t>
            </a:r>
            <a:endParaRPr sz="1800"/>
          </a:p>
        </p:txBody>
      </p:sp>
      <p:sp>
        <p:nvSpPr>
          <p:cNvPr id="315" name="Google Shape;315;p3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QR-код на репозиторий с исходным кодом</a:t>
            </a:r>
            <a:endParaRPr sz="3200"/>
          </a:p>
        </p:txBody>
      </p:sp>
      <p:sp>
        <p:nvSpPr>
          <p:cNvPr id="322" name="Google Shape;322;p3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23" name="Google Shape;323;p34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100" y="1335575"/>
            <a:ext cx="4989375" cy="49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